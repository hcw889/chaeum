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12192000"/>
  <p:embeddedFontLst>
    <p:embeddedFont>
      <p:font typeface="Noto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58">
          <p15:clr>
            <a:srgbClr val="000000"/>
          </p15:clr>
        </p15:guide>
        <p15:guide id="2" pos="3838">
          <p15:clr>
            <a:srgbClr val="000000"/>
          </p15:clr>
        </p15:guide>
      </p15:sldGuideLst>
    </p:ext>
    <p:ext uri="GoogleSlidesCustomDataVersion2">
      <go:slidesCustomData xmlns:go="http://customooxmlschemas.google.com/" r:id="rId26" roundtripDataSignature="AMtx7mjysq4NAzYci3CZWnbSmN6G7ZnF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76AF1A7-7BBB-4D50-95D9-546AD30123B8}">
  <a:tblStyle styleId="{E76AF1A7-7BBB-4D50-95D9-546AD30123B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58" orient="horz"/>
        <p:guide pos="383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NotoSans-regular.fntdata"/><Relationship Id="rId21" Type="http://schemas.openxmlformats.org/officeDocument/2006/relationships/slide" Target="slides/slide15.xml"/><Relationship Id="rId24" Type="http://schemas.openxmlformats.org/officeDocument/2006/relationships/font" Target="fonts/NotoSans-italic.fntdata"/><Relationship Id="rId23" Type="http://schemas.openxmlformats.org/officeDocument/2006/relationships/font" Target="fonts/Noto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customschemas.google.com/relationships/presentationmetadata" Target="metadata"/><Relationship Id="rId25" Type="http://schemas.openxmlformats.org/officeDocument/2006/relationships/font" Target="fonts/NotoSa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algun Gothic"/>
              <a:buNone/>
            </a:pPr>
            <a:fld id="{00000000-1234-1234-1234-123412341234}" type="slidenum">
              <a:rPr b="0" i="0" lang="ko-KR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409d4efb4a7_1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409d4efb4a7_1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g409d4efb4a7_1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algun Gothic"/>
              <a:buNone/>
            </a:pPr>
            <a:fld id="{00000000-1234-1234-1234-123412341234}" type="slidenum">
              <a:rPr b="0" i="0" lang="ko-KR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409d4efb4a7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409d4efb4a7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g409d4efb4a7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409d4efb4a7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409d4efb4a7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g409d4efb4a7_0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409d4efb4a7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409d4efb4a7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g409d4efb4a7_0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409d4efb4a7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409d4efb4a7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g409d4efb4a7_0_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409d4efb4a7_0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g409d4efb4a7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g409d4efb4a7_0_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409d4efb4a7_0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409d4efb4a7_0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g409d4efb4a7_0_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409d4efb4a7_0_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409d4efb4a7_0_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g409d4efb4a7_0_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409d4efb4a7_0_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g409d4efb4a7_0_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8" name="Google Shape;238;g409d4efb4a7_0_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409d4efb4a7_0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g409d4efb4a7_0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8" name="Google Shape;258;g409d4efb4a7_0_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409d4efb4a7_0_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g409d4efb4a7_0_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3" name="Google Shape;273;g409d4efb4a7_0_7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409d4efb4a7_0_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g409d4efb4a7_0_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0" name="Google Shape;290;g409d4efb4a7_0_8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8" name="Google Shape;30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algun Gothic"/>
              <a:buNone/>
            </a:pPr>
            <a:fld id="{00000000-1234-1234-1234-123412341234}" type="slidenum">
              <a:rPr b="0" i="0" lang="ko-KR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  <a:defRPr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  <a:defRPr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OBJECT 2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4" name="Google Shape;4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3" name="Google Shape;53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8" name="Google Shape;68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6" name="Google Shape;7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Relationship Id="rId4" Type="http://schemas.openxmlformats.org/officeDocument/2006/relationships/image" Target="../media/image3.png"/><Relationship Id="rId5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Relationship Id="rId4" Type="http://schemas.openxmlformats.org/officeDocument/2006/relationships/image" Target="../media/image3.png"/><Relationship Id="rId5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Relationship Id="rId4" Type="http://schemas.openxmlformats.org/officeDocument/2006/relationships/image" Target="../media/image3.png"/><Relationship Id="rId5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Relationship Id="rId4" Type="http://schemas.openxmlformats.org/officeDocument/2006/relationships/image" Target="../media/image3.png"/><Relationship Id="rId5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Relationship Id="rId4" Type="http://schemas.openxmlformats.org/officeDocument/2006/relationships/image" Target="../media/image3.png"/><Relationship Id="rId5" Type="http://schemas.openxmlformats.org/officeDocument/2006/relationships/image" Target="../media/image20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Relationship Id="rId4" Type="http://schemas.openxmlformats.org/officeDocument/2006/relationships/image" Target="../media/image3.png"/><Relationship Id="rId5" Type="http://schemas.openxmlformats.org/officeDocument/2006/relationships/image" Target="../media/image15.png"/><Relationship Id="rId6" Type="http://schemas.openxmlformats.org/officeDocument/2006/relationships/image" Target="../media/image14.png"/><Relationship Id="rId7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Relationship Id="rId4" Type="http://schemas.openxmlformats.org/officeDocument/2006/relationships/image" Target="../media/image3.png"/><Relationship Id="rId5" Type="http://schemas.openxmlformats.org/officeDocument/2006/relationships/image" Target="../media/image22.png"/><Relationship Id="rId6" Type="http://schemas.openxmlformats.org/officeDocument/2006/relationships/image" Target="../media/image19.png"/><Relationship Id="rId7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" title="해시태깅 친환경 건물 건축 와이드 프레젠테이션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175"/>
            <a:ext cx="12192000" cy="70244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"/>
          <p:cNvSpPr/>
          <p:nvPr/>
        </p:nvSpPr>
        <p:spPr>
          <a:xfrm>
            <a:off x="0" y="-8"/>
            <a:ext cx="9172500" cy="7106100"/>
          </a:xfrm>
          <a:prstGeom prst="rect">
            <a:avLst/>
          </a:prstGeom>
          <a:gradFill>
            <a:gsLst>
              <a:gs pos="0">
                <a:schemeClr val="dk1"/>
              </a:gs>
              <a:gs pos="63000">
                <a:srgbClr val="1E2761">
                  <a:alpha val="50196"/>
                </a:srgbClr>
              </a:gs>
              <a:gs pos="100000">
                <a:srgbClr val="1E2761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" name="Google Shape;98;p1"/>
          <p:cNvGrpSpPr/>
          <p:nvPr/>
        </p:nvGrpSpPr>
        <p:grpSpPr>
          <a:xfrm>
            <a:off x="628649" y="1447619"/>
            <a:ext cx="7809601" cy="4321321"/>
            <a:chOff x="628649" y="1766026"/>
            <a:chExt cx="7809601" cy="4321321"/>
          </a:xfrm>
        </p:grpSpPr>
        <p:sp>
          <p:nvSpPr>
            <p:cNvPr id="99" name="Google Shape;99;p1"/>
            <p:cNvSpPr txBox="1"/>
            <p:nvPr/>
          </p:nvSpPr>
          <p:spPr>
            <a:xfrm>
              <a:off x="628649" y="5393147"/>
              <a:ext cx="7285200" cy="69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25"/>
                <a:buFont typeface="Arial"/>
                <a:buNone/>
              </a:pPr>
              <a:r>
                <a:rPr lang="ko-KR" sz="1700">
                  <a:solidFill>
                    <a:srgbClr val="FFFFFF"/>
                  </a:solidFill>
                </a:rPr>
                <a:t>전북대학교 </a:t>
              </a:r>
              <a:r>
                <a:rPr lang="ko-KR" sz="1700">
                  <a:solidFill>
                    <a:schemeClr val="lt1"/>
                  </a:solidFill>
                </a:rPr>
                <a:t>·</a:t>
              </a:r>
              <a:r>
                <a:rPr b="1" lang="ko-KR" sz="1700">
                  <a:solidFill>
                    <a:srgbClr val="6B708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ko-KR" sz="1700">
                  <a:solidFill>
                    <a:srgbClr val="FFFFFF"/>
                  </a:solidFill>
                </a:rPr>
                <a:t>온잇 ON:IT</a:t>
              </a:r>
              <a:endParaRPr b="0" i="0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25"/>
                <a:buFont typeface="Arial"/>
                <a:buNone/>
              </a:pPr>
              <a:r>
                <a:rPr b="0" i="0" lang="ko-KR" sz="1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2026. 09. 1</a:t>
              </a:r>
              <a:r>
                <a:rPr lang="ko-KR" sz="1700">
                  <a:solidFill>
                    <a:srgbClr val="FFFFFF"/>
                  </a:solidFill>
                </a:rPr>
                <a:t>2</a:t>
              </a:r>
              <a:r>
                <a:rPr b="0" i="0" lang="ko-KR" sz="1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. · </a:t>
              </a:r>
              <a:r>
                <a:rPr lang="ko-KR" sz="1700">
                  <a:solidFill>
                    <a:srgbClr val="FFFFFF"/>
                  </a:solidFill>
                </a:rPr>
                <a:t>2026 오픈소스 SW 아이디어 해커톤 캠프</a:t>
              </a:r>
              <a:endPara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0" name="Google Shape;100;p1"/>
            <p:cNvGrpSpPr/>
            <p:nvPr/>
          </p:nvGrpSpPr>
          <p:grpSpPr>
            <a:xfrm>
              <a:off x="628650" y="1766026"/>
              <a:ext cx="7809600" cy="3368106"/>
              <a:chOff x="628650" y="1766026"/>
              <a:chExt cx="7809600" cy="3368106"/>
            </a:xfrm>
          </p:grpSpPr>
          <p:sp>
            <p:nvSpPr>
              <p:cNvPr id="101" name="Google Shape;101;p1"/>
              <p:cNvSpPr txBox="1"/>
              <p:nvPr/>
            </p:nvSpPr>
            <p:spPr>
              <a:xfrm>
                <a:off x="628650" y="1766026"/>
                <a:ext cx="78096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5D8F1"/>
                  </a:buClr>
                  <a:buSzPts val="400"/>
                  <a:buFont typeface="Arial"/>
                  <a:buNone/>
                </a:pPr>
                <a:r>
                  <a:rPr b="1" lang="ko-KR" sz="1800">
                    <a:solidFill>
                      <a:schemeClr val="lt1"/>
                    </a:solidFill>
                  </a:rPr>
                  <a:t>2026 오픈소스 SW 아이디어 해커톤 캠프</a:t>
                </a:r>
                <a:endParaRPr b="0" i="0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p1"/>
              <p:cNvSpPr txBox="1"/>
              <p:nvPr/>
            </p:nvSpPr>
            <p:spPr>
              <a:xfrm>
                <a:off x="628650" y="4127632"/>
                <a:ext cx="7809600" cy="100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5D8F1"/>
                  </a:buClr>
                  <a:buSzPts val="600"/>
                  <a:buFont typeface="Arial"/>
                  <a:buNone/>
                </a:pPr>
                <a:r>
                  <a:rPr b="1" lang="ko-KR" sz="2700">
                    <a:solidFill>
                      <a:schemeClr val="lt1"/>
                    </a:solidFill>
                  </a:rPr>
                  <a:t>전북의 빈 공간을</a:t>
                </a:r>
                <a:endParaRPr b="1" sz="2700">
                  <a:solidFill>
                    <a:schemeClr val="lt1"/>
                  </a:solidFill>
                </a:endParaRPr>
              </a:p>
              <a:p>
                <a:pPr indent="0" lvl="0" marL="0" marR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5D8F1"/>
                  </a:buClr>
                  <a:buSzPts val="600"/>
                  <a:buFont typeface="Arial"/>
                  <a:buNone/>
                </a:pPr>
                <a:r>
                  <a:rPr b="1" lang="ko-KR" sz="2700">
                    <a:solidFill>
                      <a:schemeClr val="lt1"/>
                    </a:solidFill>
                  </a:rPr>
                  <a:t>창업의 기회로 전환하는 AI 플랫폼</a:t>
                </a:r>
                <a:endParaRPr b="1" sz="2700">
                  <a:solidFill>
                    <a:schemeClr val="lt1"/>
                  </a:solidFill>
                </a:endParaRPr>
              </a:p>
            </p:txBody>
          </p:sp>
        </p:grpSp>
      </p:grpSp>
      <p:pic>
        <p:nvPicPr>
          <p:cNvPr id="103" name="Google Shape;103;p1" title="KakaoTalk_Photo_2026-09-13-02-42-08.png"/>
          <p:cNvPicPr preferRelativeResize="0"/>
          <p:nvPr/>
        </p:nvPicPr>
        <p:blipFill rotWithShape="1">
          <a:blip r:embed="rId4">
            <a:alphaModFix/>
          </a:blip>
          <a:srcRect b="9404" l="5292" r="5613" t="12165"/>
          <a:stretch/>
        </p:blipFill>
        <p:spPr>
          <a:xfrm>
            <a:off x="628650" y="1885943"/>
            <a:ext cx="4572726" cy="191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g409d4efb4a7_1_3" title="해시태깅 친환경 건물 건축 와이드 프레젠테이션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175"/>
            <a:ext cx="12192000" cy="702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g409d4efb4a7_1_3"/>
          <p:cNvSpPr/>
          <p:nvPr/>
        </p:nvSpPr>
        <p:spPr>
          <a:xfrm>
            <a:off x="-3175" y="-3200"/>
            <a:ext cx="12192000" cy="7024500"/>
          </a:xfrm>
          <a:prstGeom prst="rect">
            <a:avLst/>
          </a:prstGeom>
          <a:gradFill>
            <a:gsLst>
              <a:gs pos="0">
                <a:srgbClr val="FFFFFF">
                  <a:alpha val="90196"/>
                </a:srgbClr>
              </a:gs>
              <a:gs pos="31000">
                <a:srgbClr val="FFFFFF">
                  <a:alpha val="60000"/>
                </a:srgbClr>
              </a:gs>
              <a:gs pos="67000">
                <a:srgbClr val="FFFFFF">
                  <a:alpha val="30196"/>
                </a:srgbClr>
              </a:gs>
              <a:gs pos="99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1" name="Google Shape;111;g409d4efb4a7_1_3"/>
          <p:cNvSpPr/>
          <p:nvPr/>
        </p:nvSpPr>
        <p:spPr>
          <a:xfrm>
            <a:off x="412950" y="5216688"/>
            <a:ext cx="11413200" cy="1081200"/>
          </a:xfrm>
          <a:prstGeom prst="roundRect">
            <a:avLst>
              <a:gd fmla="val 7619" name="adj"/>
            </a:avLst>
          </a:prstGeom>
          <a:solidFill>
            <a:srgbClr val="1215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2" name="Google Shape;112;g409d4efb4a7_1_3"/>
          <p:cNvSpPr txBox="1"/>
          <p:nvPr/>
        </p:nvSpPr>
        <p:spPr>
          <a:xfrm>
            <a:off x="1723075" y="5332200"/>
            <a:ext cx="101031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algun Gothic"/>
              <a:buNone/>
            </a:pPr>
            <a:r>
              <a:rPr lang="ko-KR" sz="16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지난 9일</a:t>
            </a:r>
            <a:r>
              <a:rPr lang="ko-KR" sz="16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lang="ko-KR" sz="16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국토부·문체부·중기부가 원도심 공실·유휴건물 정비를 지원</a:t>
            </a:r>
            <a:r>
              <a:rPr lang="ko-KR" sz="16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하는 '</a:t>
            </a:r>
            <a:r>
              <a:rPr b="1" lang="ko-KR" sz="1800">
                <a:solidFill>
                  <a:srgbClr val="D99A3E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원도심 RE:CORE 프로젝트</a:t>
            </a:r>
            <a:r>
              <a:rPr lang="ko-KR" sz="16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'를 발표했습니다. </a:t>
            </a:r>
            <a:endParaRPr sz="16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algun Gothic"/>
              <a:buNone/>
            </a:pPr>
            <a:r>
              <a:rPr b="1" lang="ko-KR" sz="16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공실 활용이 국가 정책 의제</a:t>
            </a:r>
            <a:r>
              <a:rPr lang="ko-KR" sz="16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 떠오른 지금이 적기입니다.</a:t>
            </a:r>
            <a:endParaRPr b="1" sz="18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3" name="Google Shape;113;g409d4efb4a7_1_3"/>
          <p:cNvSpPr/>
          <p:nvPr/>
        </p:nvSpPr>
        <p:spPr>
          <a:xfrm>
            <a:off x="606909" y="5551493"/>
            <a:ext cx="1051500" cy="329100"/>
          </a:xfrm>
          <a:prstGeom prst="roundRect">
            <a:avLst>
              <a:gd fmla="val 50000" name="adj"/>
            </a:avLst>
          </a:prstGeom>
          <a:solidFill>
            <a:srgbClr val="D99A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4" name="Google Shape;114;g409d4efb4a7_1_3"/>
          <p:cNvSpPr txBox="1"/>
          <p:nvPr/>
        </p:nvSpPr>
        <p:spPr>
          <a:xfrm>
            <a:off x="599008" y="5592901"/>
            <a:ext cx="10515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3"/>
              <a:buFont typeface="Malgun Gothic"/>
              <a:buNone/>
            </a:pPr>
            <a:r>
              <a:rPr b="1" lang="ko-KR" sz="125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WHY NOW</a:t>
            </a:r>
            <a:endParaRPr b="0" i="0" sz="125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5" name="Google Shape;115;g409d4efb4a7_1_3" title="KakaoTalk_Photo_2026-09-13-10-21-1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2825" y="666800"/>
            <a:ext cx="8353449" cy="202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g409d4efb4a7_1_3" title="KakaoTalk_Photo_2026-09-13-10-21-0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37813" y="2948563"/>
            <a:ext cx="8763469" cy="1810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" title="해시태깅 친환경 건물 건축 와이드 프레젠테이션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175"/>
            <a:ext cx="12192000" cy="702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"/>
          <p:cNvSpPr/>
          <p:nvPr/>
        </p:nvSpPr>
        <p:spPr>
          <a:xfrm>
            <a:off x="-3175" y="-3200"/>
            <a:ext cx="12192000" cy="7024500"/>
          </a:xfrm>
          <a:prstGeom prst="rect">
            <a:avLst/>
          </a:prstGeom>
          <a:gradFill>
            <a:gsLst>
              <a:gs pos="0">
                <a:srgbClr val="FFFFFF">
                  <a:alpha val="90196"/>
                </a:srgbClr>
              </a:gs>
              <a:gs pos="31000">
                <a:srgbClr val="FFFFFF">
                  <a:alpha val="60000"/>
                </a:srgbClr>
              </a:gs>
              <a:gs pos="67000">
                <a:srgbClr val="FFFFFF">
                  <a:alpha val="30196"/>
                </a:srgbClr>
              </a:gs>
              <a:gs pos="99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4" name="Google Shape;124;p2"/>
          <p:cNvSpPr txBox="1"/>
          <p:nvPr/>
        </p:nvSpPr>
        <p:spPr>
          <a:xfrm>
            <a:off x="970423" y="347472"/>
            <a:ext cx="5943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275"/>
              <a:buFont typeface="Malgun Gothic"/>
              <a:buNone/>
            </a:pPr>
            <a:r>
              <a:rPr b="1" i="0" lang="ko-KR" sz="1100" u="none" cap="none" strike="noStrike">
                <a:solidFill>
                  <a:srgbClr val="6B7086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PROBLEM · WHY NOW</a:t>
            </a:r>
            <a:endParaRPr b="0"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970423" y="566928"/>
            <a:ext cx="10424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2500"/>
              <a:buFont typeface="Malgun Gothic"/>
              <a:buNone/>
            </a:pPr>
            <a:r>
              <a:rPr b="1" lang="ko-KR" sz="2200">
                <a:solidFill>
                  <a:srgbClr val="1B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전북의 원도심은 비어가고, 사람은 떠나고 있습니다</a:t>
            </a:r>
            <a:endParaRPr b="0" i="0" sz="2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26" name="Google Shape;126;p2"/>
          <p:cNvCxnSpPr/>
          <p:nvPr/>
        </p:nvCxnSpPr>
        <p:spPr>
          <a:xfrm>
            <a:off x="411480" y="1078992"/>
            <a:ext cx="11366100" cy="0"/>
          </a:xfrm>
          <a:prstGeom prst="straightConnector1">
            <a:avLst/>
          </a:prstGeom>
          <a:noFill/>
          <a:ln cap="flat" cmpd="sng" w="19050">
            <a:solidFill>
              <a:srgbClr val="1215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" name="Google Shape;127;p2"/>
          <p:cNvSpPr txBox="1"/>
          <p:nvPr/>
        </p:nvSpPr>
        <p:spPr>
          <a:xfrm>
            <a:off x="334160" y="432817"/>
            <a:ext cx="98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Arial"/>
              <a:buNone/>
            </a:pPr>
            <a:r>
              <a:rPr b="1" i="0" lang="ko-KR" sz="3600" u="none" cap="none" strike="noStrike">
                <a:solidFill>
                  <a:srgbClr val="1E2761"/>
                </a:solidFill>
                <a:latin typeface="Malgun Gothic"/>
                <a:ea typeface="Malgun Gothic"/>
                <a:cs typeface="Malgun Gothic"/>
                <a:sym typeface="Malgun Gothic"/>
              </a:rPr>
              <a:t>I.</a:t>
            </a:r>
            <a:endParaRPr b="1" i="0" sz="3600" u="none" cap="none" strike="noStrike">
              <a:solidFill>
                <a:srgbClr val="1E276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28" name="Google Shape;128;p2" title="스크린샷 2026-09-13 오전 2.00.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2764946" y="4065135"/>
            <a:ext cx="27266" cy="23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" title="ChatGPT Image 2026년 9월 13일 오전 03_47_0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5810" y="1625271"/>
            <a:ext cx="11060372" cy="3818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g409d4efb4a7_0_3" title="해시태깅 친환경 건물 건축 와이드 프레젠테이션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175"/>
            <a:ext cx="12192000" cy="702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g409d4efb4a7_0_3"/>
          <p:cNvSpPr/>
          <p:nvPr/>
        </p:nvSpPr>
        <p:spPr>
          <a:xfrm>
            <a:off x="-3175" y="-3200"/>
            <a:ext cx="12192000" cy="7024500"/>
          </a:xfrm>
          <a:prstGeom prst="rect">
            <a:avLst/>
          </a:prstGeom>
          <a:gradFill>
            <a:gsLst>
              <a:gs pos="0">
                <a:srgbClr val="FFFFFF">
                  <a:alpha val="90196"/>
                </a:srgbClr>
              </a:gs>
              <a:gs pos="31000">
                <a:srgbClr val="FFFFFF">
                  <a:alpha val="60000"/>
                </a:srgbClr>
              </a:gs>
              <a:gs pos="67000">
                <a:srgbClr val="FFFFFF">
                  <a:alpha val="30196"/>
                </a:srgbClr>
              </a:gs>
              <a:gs pos="99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37" name="Google Shape;137;g409d4efb4a7_0_3" title="스크린샷 2026-09-13 오전 2.00.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2764946" y="4065135"/>
            <a:ext cx="27266" cy="23069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g409d4efb4a7_0_3"/>
          <p:cNvSpPr txBox="1"/>
          <p:nvPr/>
        </p:nvSpPr>
        <p:spPr>
          <a:xfrm>
            <a:off x="970423" y="347472"/>
            <a:ext cx="5943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275"/>
              <a:buFont typeface="Malgun Gothic"/>
              <a:buNone/>
            </a:pPr>
            <a:r>
              <a:rPr b="1" lang="ko-KR" sz="1100">
                <a:solidFill>
                  <a:srgbClr val="6B7086"/>
                </a:solidFill>
                <a:latin typeface="Malgun Gothic"/>
                <a:ea typeface="Malgun Gothic"/>
                <a:cs typeface="Malgun Gothic"/>
                <a:sym typeface="Malgun Gothic"/>
              </a:rPr>
              <a:t>SOLUTION </a:t>
            </a:r>
            <a:endParaRPr b="0"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9" name="Google Shape;139;g409d4efb4a7_0_3"/>
          <p:cNvSpPr txBox="1"/>
          <p:nvPr/>
        </p:nvSpPr>
        <p:spPr>
          <a:xfrm>
            <a:off x="970423" y="566928"/>
            <a:ext cx="10424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2500"/>
              <a:buFont typeface="Malgun Gothic"/>
              <a:buNone/>
            </a:pPr>
            <a:r>
              <a:rPr b="1" lang="ko-KR" sz="2200">
                <a:solidFill>
                  <a:srgbClr val="1B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6가지 정보만 입력하면, AI가 가장 적합한 공간을 찾아줍니다</a:t>
            </a:r>
            <a:endParaRPr b="0" i="0" sz="2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40" name="Google Shape;140;g409d4efb4a7_0_3"/>
          <p:cNvCxnSpPr/>
          <p:nvPr/>
        </p:nvCxnSpPr>
        <p:spPr>
          <a:xfrm>
            <a:off x="411480" y="1078992"/>
            <a:ext cx="11366100" cy="0"/>
          </a:xfrm>
          <a:prstGeom prst="straightConnector1">
            <a:avLst/>
          </a:prstGeom>
          <a:noFill/>
          <a:ln cap="flat" cmpd="sng" w="19050">
            <a:solidFill>
              <a:srgbClr val="1215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1" name="Google Shape;141;g409d4efb4a7_0_3"/>
          <p:cNvSpPr txBox="1"/>
          <p:nvPr/>
        </p:nvSpPr>
        <p:spPr>
          <a:xfrm>
            <a:off x="334160" y="432817"/>
            <a:ext cx="98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Arial"/>
              <a:buNone/>
            </a:pPr>
            <a:r>
              <a:rPr b="1" lang="ko-KR" sz="3600">
                <a:solidFill>
                  <a:srgbClr val="1E2761"/>
                </a:solidFill>
                <a:latin typeface="Malgun Gothic"/>
                <a:ea typeface="Malgun Gothic"/>
                <a:cs typeface="Malgun Gothic"/>
                <a:sym typeface="Malgun Gothic"/>
              </a:rPr>
              <a:t>II</a:t>
            </a:r>
            <a:r>
              <a:rPr b="1" i="0" lang="ko-KR" sz="3600" u="none" cap="none" strike="noStrike">
                <a:solidFill>
                  <a:srgbClr val="1E276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b="1" i="0" sz="3600" u="none" cap="none" strike="noStrike">
              <a:solidFill>
                <a:srgbClr val="1E276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2" name="Google Shape;142;g409d4efb4a7_0_3"/>
          <p:cNvSpPr/>
          <p:nvPr/>
        </p:nvSpPr>
        <p:spPr>
          <a:xfrm>
            <a:off x="1714964" y="341332"/>
            <a:ext cx="963600" cy="268200"/>
          </a:xfrm>
          <a:prstGeom prst="roundRect">
            <a:avLst>
              <a:gd fmla="val 50000" name="adj"/>
            </a:avLst>
          </a:prstGeom>
          <a:solidFill>
            <a:srgbClr val="F4E2C2"/>
          </a:solidFill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3" name="Google Shape;143;g409d4efb4a7_0_3"/>
          <p:cNvSpPr txBox="1"/>
          <p:nvPr/>
        </p:nvSpPr>
        <p:spPr>
          <a:xfrm>
            <a:off x="1714964" y="341320"/>
            <a:ext cx="9636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5E18"/>
              </a:buClr>
              <a:buSzPts val="341"/>
              <a:buFont typeface="Malgun Gothic"/>
              <a:buNone/>
            </a:pPr>
            <a:r>
              <a:rPr b="1" i="0" lang="ko-KR" sz="1362" u="none" cap="none" strike="noStrike">
                <a:solidFill>
                  <a:srgbClr val="8A5E18"/>
                </a:solidFill>
                <a:latin typeface="Malgun Gothic"/>
                <a:ea typeface="Malgun Gothic"/>
                <a:cs typeface="Malgun Gothic"/>
                <a:sym typeface="Malgun Gothic"/>
              </a:rPr>
              <a:t>INPUT</a:t>
            </a:r>
            <a:endParaRPr b="1" i="0" sz="1362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44" name="Google Shape;144;g409d4efb4a7_0_3" title="KakaoTalk_Photo_2026-09-13-03-05-5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74602" y="1352999"/>
            <a:ext cx="8815749" cy="461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g409d4efb4a7_0_19" title="해시태깅 친환경 건물 건축 와이드 프레젠테이션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175"/>
            <a:ext cx="12192000" cy="702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g409d4efb4a7_0_19"/>
          <p:cNvSpPr/>
          <p:nvPr/>
        </p:nvSpPr>
        <p:spPr>
          <a:xfrm>
            <a:off x="-3175" y="-3200"/>
            <a:ext cx="12192000" cy="7024500"/>
          </a:xfrm>
          <a:prstGeom prst="rect">
            <a:avLst/>
          </a:prstGeom>
          <a:gradFill>
            <a:gsLst>
              <a:gs pos="0">
                <a:srgbClr val="FFFFFF">
                  <a:alpha val="90196"/>
                </a:srgbClr>
              </a:gs>
              <a:gs pos="31000">
                <a:srgbClr val="FFFFFF">
                  <a:alpha val="60000"/>
                </a:srgbClr>
              </a:gs>
              <a:gs pos="67000">
                <a:srgbClr val="FFFFFF">
                  <a:alpha val="30196"/>
                </a:srgbClr>
              </a:gs>
              <a:gs pos="99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52" name="Google Shape;152;g409d4efb4a7_0_19" title="스크린샷 2026-09-13 오전 2.00.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2764946" y="4065135"/>
            <a:ext cx="27266" cy="23069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409d4efb4a7_0_19"/>
          <p:cNvSpPr txBox="1"/>
          <p:nvPr/>
        </p:nvSpPr>
        <p:spPr>
          <a:xfrm>
            <a:off x="970423" y="347472"/>
            <a:ext cx="5943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275"/>
              <a:buFont typeface="Malgun Gothic"/>
              <a:buNone/>
            </a:pPr>
            <a:r>
              <a:rPr b="1" lang="ko-KR" sz="1100">
                <a:solidFill>
                  <a:srgbClr val="6B7086"/>
                </a:solidFill>
                <a:latin typeface="Malgun Gothic"/>
                <a:ea typeface="Malgun Gothic"/>
                <a:cs typeface="Malgun Gothic"/>
                <a:sym typeface="Malgun Gothic"/>
              </a:rPr>
              <a:t>SOLUTION </a:t>
            </a:r>
            <a:endParaRPr b="0"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4" name="Google Shape;154;g409d4efb4a7_0_19"/>
          <p:cNvSpPr txBox="1"/>
          <p:nvPr/>
        </p:nvSpPr>
        <p:spPr>
          <a:xfrm>
            <a:off x="970423" y="566928"/>
            <a:ext cx="10424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2500"/>
              <a:buFont typeface="Malgun Gothic"/>
              <a:buNone/>
            </a:pPr>
            <a:r>
              <a:rPr b="1" lang="ko-KR" sz="2200">
                <a:solidFill>
                  <a:srgbClr val="1B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6가지 정보만 입력하면, AI가 가장 적합한 공간을 찾아줍니다</a:t>
            </a:r>
            <a:endParaRPr b="0" i="0" sz="2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55" name="Google Shape;155;g409d4efb4a7_0_19"/>
          <p:cNvCxnSpPr/>
          <p:nvPr/>
        </p:nvCxnSpPr>
        <p:spPr>
          <a:xfrm>
            <a:off x="411480" y="1078992"/>
            <a:ext cx="11366100" cy="0"/>
          </a:xfrm>
          <a:prstGeom prst="straightConnector1">
            <a:avLst/>
          </a:prstGeom>
          <a:noFill/>
          <a:ln cap="flat" cmpd="sng" w="19050">
            <a:solidFill>
              <a:srgbClr val="1215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" name="Google Shape;156;g409d4efb4a7_0_19"/>
          <p:cNvSpPr txBox="1"/>
          <p:nvPr/>
        </p:nvSpPr>
        <p:spPr>
          <a:xfrm>
            <a:off x="334160" y="432817"/>
            <a:ext cx="98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Arial"/>
              <a:buNone/>
            </a:pPr>
            <a:r>
              <a:rPr b="1" lang="ko-KR" sz="3600">
                <a:solidFill>
                  <a:srgbClr val="1E2761"/>
                </a:solidFill>
                <a:latin typeface="Malgun Gothic"/>
                <a:ea typeface="Malgun Gothic"/>
                <a:cs typeface="Malgun Gothic"/>
                <a:sym typeface="Malgun Gothic"/>
              </a:rPr>
              <a:t>II</a:t>
            </a:r>
            <a:r>
              <a:rPr b="1" i="0" lang="ko-KR" sz="3600" u="none" cap="none" strike="noStrike">
                <a:solidFill>
                  <a:srgbClr val="1E276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b="1" i="0" sz="3600" u="none" cap="none" strike="noStrike">
              <a:solidFill>
                <a:srgbClr val="1E276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7" name="Google Shape;157;g409d4efb4a7_0_19"/>
          <p:cNvSpPr/>
          <p:nvPr/>
        </p:nvSpPr>
        <p:spPr>
          <a:xfrm>
            <a:off x="1714964" y="341332"/>
            <a:ext cx="963600" cy="268200"/>
          </a:xfrm>
          <a:prstGeom prst="roundRect">
            <a:avLst>
              <a:gd fmla="val 50000" name="adj"/>
            </a:avLst>
          </a:prstGeom>
          <a:solidFill>
            <a:srgbClr val="F4E2C2"/>
          </a:solidFill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8" name="Google Shape;158;g409d4efb4a7_0_19"/>
          <p:cNvSpPr txBox="1"/>
          <p:nvPr/>
        </p:nvSpPr>
        <p:spPr>
          <a:xfrm>
            <a:off x="1714964" y="341320"/>
            <a:ext cx="9636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5E18"/>
              </a:buClr>
              <a:buSzPts val="341"/>
              <a:buFont typeface="Malgun Gothic"/>
              <a:buNone/>
            </a:pPr>
            <a:r>
              <a:rPr b="1" i="0" lang="ko-KR" sz="1362" u="none" cap="none" strike="noStrike">
                <a:solidFill>
                  <a:srgbClr val="8A5E18"/>
                </a:solidFill>
                <a:latin typeface="Malgun Gothic"/>
                <a:ea typeface="Malgun Gothic"/>
                <a:cs typeface="Malgun Gothic"/>
                <a:sym typeface="Malgun Gothic"/>
              </a:rPr>
              <a:t>INPUT</a:t>
            </a:r>
            <a:endParaRPr b="1" i="0" sz="1362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59" name="Google Shape;159;g409d4efb4a7_0_19" title="KakaoTalk_Photo_2026-09-13-03-06-0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74600" y="1353000"/>
            <a:ext cx="8815750" cy="5279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g409d4efb4a7_0_26" title="해시태깅 친환경 건물 건축 와이드 프레젠테이션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175"/>
            <a:ext cx="12192000" cy="702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g409d4efb4a7_0_26"/>
          <p:cNvSpPr/>
          <p:nvPr/>
        </p:nvSpPr>
        <p:spPr>
          <a:xfrm>
            <a:off x="-3175" y="-3200"/>
            <a:ext cx="12192000" cy="7024500"/>
          </a:xfrm>
          <a:prstGeom prst="rect">
            <a:avLst/>
          </a:prstGeom>
          <a:gradFill>
            <a:gsLst>
              <a:gs pos="0">
                <a:srgbClr val="FFFFFF">
                  <a:alpha val="90196"/>
                </a:srgbClr>
              </a:gs>
              <a:gs pos="31000">
                <a:srgbClr val="FFFFFF">
                  <a:alpha val="60000"/>
                </a:srgbClr>
              </a:gs>
              <a:gs pos="67000">
                <a:srgbClr val="FFFFFF">
                  <a:alpha val="30196"/>
                </a:srgbClr>
              </a:gs>
              <a:gs pos="99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67" name="Google Shape;167;g409d4efb4a7_0_26" title="스크린샷 2026-09-13 오전 2.00.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2764946" y="4065135"/>
            <a:ext cx="27266" cy="23069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g409d4efb4a7_0_26"/>
          <p:cNvSpPr txBox="1"/>
          <p:nvPr/>
        </p:nvSpPr>
        <p:spPr>
          <a:xfrm>
            <a:off x="970423" y="347472"/>
            <a:ext cx="5943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275"/>
              <a:buFont typeface="Malgun Gothic"/>
              <a:buNone/>
            </a:pPr>
            <a:r>
              <a:rPr b="1" lang="ko-KR" sz="1100">
                <a:solidFill>
                  <a:srgbClr val="6B7086"/>
                </a:solidFill>
                <a:latin typeface="Malgun Gothic"/>
                <a:ea typeface="Malgun Gothic"/>
                <a:cs typeface="Malgun Gothic"/>
                <a:sym typeface="Malgun Gothic"/>
              </a:rPr>
              <a:t>SOLUTION </a:t>
            </a:r>
            <a:endParaRPr b="0"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9" name="Google Shape;169;g409d4efb4a7_0_26"/>
          <p:cNvSpPr txBox="1"/>
          <p:nvPr/>
        </p:nvSpPr>
        <p:spPr>
          <a:xfrm>
            <a:off x="970423" y="566928"/>
            <a:ext cx="10424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2500"/>
              <a:buFont typeface="Malgun Gothic"/>
              <a:buNone/>
            </a:pPr>
            <a:r>
              <a:rPr b="1" lang="ko-KR" sz="2200">
                <a:solidFill>
                  <a:srgbClr val="1B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6가지 정보만 입력하면, AI가 가장 적합한 공간을 찾아줍니다</a:t>
            </a:r>
            <a:endParaRPr b="0" i="0" sz="2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70" name="Google Shape;170;g409d4efb4a7_0_26"/>
          <p:cNvCxnSpPr/>
          <p:nvPr/>
        </p:nvCxnSpPr>
        <p:spPr>
          <a:xfrm>
            <a:off x="411480" y="1078992"/>
            <a:ext cx="11366100" cy="0"/>
          </a:xfrm>
          <a:prstGeom prst="straightConnector1">
            <a:avLst/>
          </a:prstGeom>
          <a:noFill/>
          <a:ln cap="flat" cmpd="sng" w="19050">
            <a:solidFill>
              <a:srgbClr val="1215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" name="Google Shape;171;g409d4efb4a7_0_26"/>
          <p:cNvSpPr txBox="1"/>
          <p:nvPr/>
        </p:nvSpPr>
        <p:spPr>
          <a:xfrm>
            <a:off x="334160" y="432817"/>
            <a:ext cx="98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Arial"/>
              <a:buNone/>
            </a:pPr>
            <a:r>
              <a:rPr b="1" lang="ko-KR" sz="3600">
                <a:solidFill>
                  <a:srgbClr val="1E2761"/>
                </a:solidFill>
                <a:latin typeface="Malgun Gothic"/>
                <a:ea typeface="Malgun Gothic"/>
                <a:cs typeface="Malgun Gothic"/>
                <a:sym typeface="Malgun Gothic"/>
              </a:rPr>
              <a:t>II</a:t>
            </a:r>
            <a:r>
              <a:rPr b="1" i="0" lang="ko-KR" sz="3600" u="none" cap="none" strike="noStrike">
                <a:solidFill>
                  <a:srgbClr val="1E276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b="1" i="0" sz="3600" u="none" cap="none" strike="noStrike">
              <a:solidFill>
                <a:srgbClr val="1E276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2" name="Google Shape;172;g409d4efb4a7_0_26"/>
          <p:cNvSpPr/>
          <p:nvPr/>
        </p:nvSpPr>
        <p:spPr>
          <a:xfrm>
            <a:off x="1714964" y="341332"/>
            <a:ext cx="963600" cy="268200"/>
          </a:xfrm>
          <a:prstGeom prst="roundRect">
            <a:avLst>
              <a:gd fmla="val 50000" name="adj"/>
            </a:avLst>
          </a:prstGeom>
          <a:solidFill>
            <a:srgbClr val="F4E2C2"/>
          </a:solidFill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3" name="Google Shape;173;g409d4efb4a7_0_26"/>
          <p:cNvSpPr txBox="1"/>
          <p:nvPr/>
        </p:nvSpPr>
        <p:spPr>
          <a:xfrm>
            <a:off x="1714964" y="341320"/>
            <a:ext cx="9636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5E18"/>
              </a:buClr>
              <a:buSzPts val="341"/>
              <a:buFont typeface="Malgun Gothic"/>
              <a:buNone/>
            </a:pPr>
            <a:r>
              <a:rPr b="1" i="0" lang="ko-KR" sz="1362" u="none" cap="none" strike="noStrike">
                <a:solidFill>
                  <a:srgbClr val="8A5E18"/>
                </a:solidFill>
                <a:latin typeface="Malgun Gothic"/>
                <a:ea typeface="Malgun Gothic"/>
                <a:cs typeface="Malgun Gothic"/>
                <a:sym typeface="Malgun Gothic"/>
              </a:rPr>
              <a:t>INPUT</a:t>
            </a:r>
            <a:endParaRPr b="1" i="0" sz="1362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74" name="Google Shape;174;g409d4efb4a7_0_26" title="KakaoTalk_Photo_2026-09-13-03-06-1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13760" y="1179799"/>
            <a:ext cx="6158130" cy="5529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g409d4efb4a7_0_33" title="해시태깅 친환경 건물 건축 와이드 프레젠테이션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175"/>
            <a:ext cx="12192000" cy="702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g409d4efb4a7_0_33"/>
          <p:cNvSpPr/>
          <p:nvPr/>
        </p:nvSpPr>
        <p:spPr>
          <a:xfrm>
            <a:off x="-3175" y="-3200"/>
            <a:ext cx="12192000" cy="7024500"/>
          </a:xfrm>
          <a:prstGeom prst="rect">
            <a:avLst/>
          </a:prstGeom>
          <a:gradFill>
            <a:gsLst>
              <a:gs pos="0">
                <a:srgbClr val="FFFFFF">
                  <a:alpha val="90196"/>
                </a:srgbClr>
              </a:gs>
              <a:gs pos="31000">
                <a:srgbClr val="FFFFFF">
                  <a:alpha val="60000"/>
                </a:srgbClr>
              </a:gs>
              <a:gs pos="67000">
                <a:srgbClr val="FFFFFF">
                  <a:alpha val="30196"/>
                </a:srgbClr>
              </a:gs>
              <a:gs pos="99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82" name="Google Shape;182;g409d4efb4a7_0_33" title="스크린샷 2026-09-13 오전 2.00.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2764946" y="4065135"/>
            <a:ext cx="27266" cy="23069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g409d4efb4a7_0_33"/>
          <p:cNvSpPr txBox="1"/>
          <p:nvPr/>
        </p:nvSpPr>
        <p:spPr>
          <a:xfrm>
            <a:off x="970423" y="347472"/>
            <a:ext cx="5943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275"/>
              <a:buFont typeface="Malgun Gothic"/>
              <a:buNone/>
            </a:pPr>
            <a:r>
              <a:rPr b="1" lang="ko-KR" sz="1100">
                <a:solidFill>
                  <a:srgbClr val="6B7086"/>
                </a:solidFill>
                <a:latin typeface="Malgun Gothic"/>
                <a:ea typeface="Malgun Gothic"/>
                <a:cs typeface="Malgun Gothic"/>
                <a:sym typeface="Malgun Gothic"/>
              </a:rPr>
              <a:t>SOLUTION </a:t>
            </a:r>
            <a:endParaRPr b="0"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4" name="Google Shape;184;g409d4efb4a7_0_33"/>
          <p:cNvSpPr txBox="1"/>
          <p:nvPr/>
        </p:nvSpPr>
        <p:spPr>
          <a:xfrm>
            <a:off x="970423" y="566928"/>
            <a:ext cx="10424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2500"/>
              <a:buFont typeface="Malgun Gothic"/>
              <a:buNone/>
            </a:pPr>
            <a:r>
              <a:rPr b="1" lang="ko-KR" sz="2200">
                <a:solidFill>
                  <a:srgbClr val="1B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6가지 정보만 입력하면, AI가 가장 적합한 공간을 찾아줍니다</a:t>
            </a:r>
            <a:endParaRPr b="0" i="0" sz="2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85" name="Google Shape;185;g409d4efb4a7_0_33"/>
          <p:cNvCxnSpPr/>
          <p:nvPr/>
        </p:nvCxnSpPr>
        <p:spPr>
          <a:xfrm>
            <a:off x="411480" y="1078992"/>
            <a:ext cx="11366100" cy="0"/>
          </a:xfrm>
          <a:prstGeom prst="straightConnector1">
            <a:avLst/>
          </a:prstGeom>
          <a:noFill/>
          <a:ln cap="flat" cmpd="sng" w="19050">
            <a:solidFill>
              <a:srgbClr val="1215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" name="Google Shape;186;g409d4efb4a7_0_33"/>
          <p:cNvSpPr txBox="1"/>
          <p:nvPr/>
        </p:nvSpPr>
        <p:spPr>
          <a:xfrm>
            <a:off x="334160" y="432817"/>
            <a:ext cx="98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Arial"/>
              <a:buNone/>
            </a:pPr>
            <a:r>
              <a:rPr b="1" lang="ko-KR" sz="3600">
                <a:solidFill>
                  <a:srgbClr val="1E2761"/>
                </a:solidFill>
                <a:latin typeface="Malgun Gothic"/>
                <a:ea typeface="Malgun Gothic"/>
                <a:cs typeface="Malgun Gothic"/>
                <a:sym typeface="Malgun Gothic"/>
              </a:rPr>
              <a:t>II</a:t>
            </a:r>
            <a:r>
              <a:rPr b="1" i="0" lang="ko-KR" sz="3600" u="none" cap="none" strike="noStrike">
                <a:solidFill>
                  <a:srgbClr val="1E276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b="1" i="0" sz="3600" u="none" cap="none" strike="noStrike">
              <a:solidFill>
                <a:srgbClr val="1E276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7" name="Google Shape;187;g409d4efb4a7_0_33"/>
          <p:cNvSpPr/>
          <p:nvPr/>
        </p:nvSpPr>
        <p:spPr>
          <a:xfrm>
            <a:off x="1714964" y="341332"/>
            <a:ext cx="963600" cy="268200"/>
          </a:xfrm>
          <a:prstGeom prst="roundRect">
            <a:avLst>
              <a:gd fmla="val 50000" name="adj"/>
            </a:avLst>
          </a:prstGeom>
          <a:solidFill>
            <a:srgbClr val="F4E2C2"/>
          </a:solidFill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8" name="Google Shape;188;g409d4efb4a7_0_33"/>
          <p:cNvSpPr txBox="1"/>
          <p:nvPr/>
        </p:nvSpPr>
        <p:spPr>
          <a:xfrm>
            <a:off x="1714964" y="341320"/>
            <a:ext cx="9636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5E18"/>
              </a:buClr>
              <a:buSzPts val="341"/>
              <a:buFont typeface="Malgun Gothic"/>
              <a:buNone/>
            </a:pPr>
            <a:r>
              <a:rPr b="1" i="0" lang="ko-KR" sz="1362" u="none" cap="none" strike="noStrike">
                <a:solidFill>
                  <a:srgbClr val="8A5E18"/>
                </a:solidFill>
                <a:latin typeface="Malgun Gothic"/>
                <a:ea typeface="Malgun Gothic"/>
                <a:cs typeface="Malgun Gothic"/>
                <a:sym typeface="Malgun Gothic"/>
              </a:rPr>
              <a:t>INPUT</a:t>
            </a:r>
            <a:endParaRPr b="1" i="0" sz="1362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89" name="Google Shape;189;g409d4efb4a7_0_33" title="KakaoTalk_Photo_2026-09-13-03-06-1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74600" y="1353000"/>
            <a:ext cx="8815749" cy="52766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g409d4efb4a7_0_40" title="해시태깅 친환경 건물 건축 와이드 프레젠테이션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175"/>
            <a:ext cx="12192000" cy="702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g409d4efb4a7_0_40"/>
          <p:cNvSpPr/>
          <p:nvPr/>
        </p:nvSpPr>
        <p:spPr>
          <a:xfrm>
            <a:off x="-3175" y="-3200"/>
            <a:ext cx="12192000" cy="7024500"/>
          </a:xfrm>
          <a:prstGeom prst="rect">
            <a:avLst/>
          </a:prstGeom>
          <a:gradFill>
            <a:gsLst>
              <a:gs pos="0">
                <a:srgbClr val="FFFFFF">
                  <a:alpha val="90196"/>
                </a:srgbClr>
              </a:gs>
              <a:gs pos="31000">
                <a:srgbClr val="FFFFFF">
                  <a:alpha val="60000"/>
                </a:srgbClr>
              </a:gs>
              <a:gs pos="67000">
                <a:srgbClr val="FFFFFF">
                  <a:alpha val="30196"/>
                </a:srgbClr>
              </a:gs>
              <a:gs pos="99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97" name="Google Shape;197;g409d4efb4a7_0_40" title="스크린샷 2026-09-13 오전 2.00.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2764946" y="4065135"/>
            <a:ext cx="27266" cy="2306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g409d4efb4a7_0_40"/>
          <p:cNvSpPr txBox="1"/>
          <p:nvPr/>
        </p:nvSpPr>
        <p:spPr>
          <a:xfrm>
            <a:off x="970423" y="347472"/>
            <a:ext cx="5943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275"/>
              <a:buFont typeface="Malgun Gothic"/>
              <a:buNone/>
            </a:pPr>
            <a:r>
              <a:rPr b="1" lang="ko-KR" sz="1100">
                <a:solidFill>
                  <a:srgbClr val="6B7086"/>
                </a:solidFill>
                <a:latin typeface="Malgun Gothic"/>
                <a:ea typeface="Malgun Gothic"/>
                <a:cs typeface="Malgun Gothic"/>
                <a:sym typeface="Malgun Gothic"/>
              </a:rPr>
              <a:t>SOLUTION </a:t>
            </a:r>
            <a:endParaRPr b="0"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9" name="Google Shape;199;g409d4efb4a7_0_40"/>
          <p:cNvSpPr txBox="1"/>
          <p:nvPr/>
        </p:nvSpPr>
        <p:spPr>
          <a:xfrm>
            <a:off x="970423" y="566928"/>
            <a:ext cx="10424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2500"/>
              <a:buFont typeface="Malgun Gothic"/>
              <a:buNone/>
            </a:pPr>
            <a:r>
              <a:rPr b="1" lang="ko-KR" sz="2200">
                <a:solidFill>
                  <a:srgbClr val="1B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6가지 정보만 입력하면, AI가 가장 적합한 공간을 찾아줍니다</a:t>
            </a:r>
            <a:endParaRPr b="0" i="0" sz="2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00" name="Google Shape;200;g409d4efb4a7_0_40"/>
          <p:cNvCxnSpPr/>
          <p:nvPr/>
        </p:nvCxnSpPr>
        <p:spPr>
          <a:xfrm>
            <a:off x="411480" y="1078992"/>
            <a:ext cx="11366100" cy="0"/>
          </a:xfrm>
          <a:prstGeom prst="straightConnector1">
            <a:avLst/>
          </a:prstGeom>
          <a:noFill/>
          <a:ln cap="flat" cmpd="sng" w="19050">
            <a:solidFill>
              <a:srgbClr val="1215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" name="Google Shape;201;g409d4efb4a7_0_40"/>
          <p:cNvSpPr txBox="1"/>
          <p:nvPr/>
        </p:nvSpPr>
        <p:spPr>
          <a:xfrm>
            <a:off x="334160" y="432817"/>
            <a:ext cx="98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Arial"/>
              <a:buNone/>
            </a:pPr>
            <a:r>
              <a:rPr b="1" lang="ko-KR" sz="3600">
                <a:solidFill>
                  <a:srgbClr val="1E2761"/>
                </a:solidFill>
                <a:latin typeface="Malgun Gothic"/>
                <a:ea typeface="Malgun Gothic"/>
                <a:cs typeface="Malgun Gothic"/>
                <a:sym typeface="Malgun Gothic"/>
              </a:rPr>
              <a:t>II</a:t>
            </a:r>
            <a:r>
              <a:rPr b="1" i="0" lang="ko-KR" sz="3600" u="none" cap="none" strike="noStrike">
                <a:solidFill>
                  <a:srgbClr val="1E276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b="1" i="0" sz="3600" u="none" cap="none" strike="noStrike">
              <a:solidFill>
                <a:srgbClr val="1E276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2" name="Google Shape;202;g409d4efb4a7_0_40"/>
          <p:cNvSpPr/>
          <p:nvPr/>
        </p:nvSpPr>
        <p:spPr>
          <a:xfrm>
            <a:off x="1714964" y="341332"/>
            <a:ext cx="963600" cy="268200"/>
          </a:xfrm>
          <a:prstGeom prst="roundRect">
            <a:avLst>
              <a:gd fmla="val 50000" name="adj"/>
            </a:avLst>
          </a:prstGeom>
          <a:solidFill>
            <a:srgbClr val="F4E2C2"/>
          </a:solidFill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3" name="Google Shape;203;g409d4efb4a7_0_40"/>
          <p:cNvSpPr txBox="1"/>
          <p:nvPr/>
        </p:nvSpPr>
        <p:spPr>
          <a:xfrm>
            <a:off x="1714964" y="341320"/>
            <a:ext cx="9636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5E18"/>
              </a:buClr>
              <a:buSzPts val="341"/>
              <a:buFont typeface="Malgun Gothic"/>
              <a:buNone/>
            </a:pPr>
            <a:r>
              <a:rPr b="1" i="0" lang="ko-KR" sz="1362" u="none" cap="none" strike="noStrike">
                <a:solidFill>
                  <a:srgbClr val="8A5E18"/>
                </a:solidFill>
                <a:latin typeface="Malgun Gothic"/>
                <a:ea typeface="Malgun Gothic"/>
                <a:cs typeface="Malgun Gothic"/>
                <a:sym typeface="Malgun Gothic"/>
              </a:rPr>
              <a:t>INPUT</a:t>
            </a:r>
            <a:endParaRPr b="1" i="0" sz="1362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04" name="Google Shape;204;g409d4efb4a7_0_40" title="KakaoTalk_Photo_2026-09-13-03-06-2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16926" y="1352999"/>
            <a:ext cx="6158151" cy="47934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g409d4efb4a7_0_47" title="해시태깅 친환경 건물 건축 와이드 프레젠테이션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175"/>
            <a:ext cx="12192000" cy="7024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g409d4efb4a7_0_47"/>
          <p:cNvSpPr/>
          <p:nvPr/>
        </p:nvSpPr>
        <p:spPr>
          <a:xfrm>
            <a:off x="-3175" y="-3200"/>
            <a:ext cx="12192000" cy="7024500"/>
          </a:xfrm>
          <a:prstGeom prst="rect">
            <a:avLst/>
          </a:prstGeom>
          <a:gradFill>
            <a:gsLst>
              <a:gs pos="0">
                <a:srgbClr val="FFFFFF">
                  <a:alpha val="90196"/>
                </a:srgbClr>
              </a:gs>
              <a:gs pos="31000">
                <a:srgbClr val="FFFFFF">
                  <a:alpha val="60000"/>
                </a:srgbClr>
              </a:gs>
              <a:gs pos="67000">
                <a:srgbClr val="FFFFFF">
                  <a:alpha val="30196"/>
                </a:srgbClr>
              </a:gs>
              <a:gs pos="99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12" name="Google Shape;212;g409d4efb4a7_0_47" title="스크린샷 2026-09-13 오전 2.00.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2764946" y="4065135"/>
            <a:ext cx="27266" cy="2306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g409d4efb4a7_0_47"/>
          <p:cNvSpPr txBox="1"/>
          <p:nvPr/>
        </p:nvSpPr>
        <p:spPr>
          <a:xfrm>
            <a:off x="970423" y="347472"/>
            <a:ext cx="5943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275"/>
              <a:buFont typeface="Malgun Gothic"/>
              <a:buNone/>
            </a:pPr>
            <a:r>
              <a:rPr b="1" lang="ko-KR" sz="1100">
                <a:solidFill>
                  <a:srgbClr val="6B7086"/>
                </a:solidFill>
                <a:latin typeface="Malgun Gothic"/>
                <a:ea typeface="Malgun Gothic"/>
                <a:cs typeface="Malgun Gothic"/>
                <a:sym typeface="Malgun Gothic"/>
              </a:rPr>
              <a:t>SOLUTION </a:t>
            </a:r>
            <a:endParaRPr b="0"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4" name="Google Shape;214;g409d4efb4a7_0_47"/>
          <p:cNvSpPr txBox="1"/>
          <p:nvPr/>
        </p:nvSpPr>
        <p:spPr>
          <a:xfrm>
            <a:off x="970423" y="566928"/>
            <a:ext cx="10424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2500"/>
              <a:buFont typeface="Malgun Gothic"/>
              <a:buNone/>
            </a:pPr>
            <a:r>
              <a:rPr b="1" lang="ko-KR" sz="2200">
                <a:solidFill>
                  <a:srgbClr val="1B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6가지 정보만 입력하면, AI가 가장 적합한 공간을 찾아줍니다</a:t>
            </a:r>
            <a:endParaRPr b="0" i="0" sz="2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15" name="Google Shape;215;g409d4efb4a7_0_47"/>
          <p:cNvCxnSpPr/>
          <p:nvPr/>
        </p:nvCxnSpPr>
        <p:spPr>
          <a:xfrm>
            <a:off x="411480" y="1078992"/>
            <a:ext cx="11366100" cy="0"/>
          </a:xfrm>
          <a:prstGeom prst="straightConnector1">
            <a:avLst/>
          </a:prstGeom>
          <a:noFill/>
          <a:ln cap="flat" cmpd="sng" w="19050">
            <a:solidFill>
              <a:srgbClr val="1215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6" name="Google Shape;216;g409d4efb4a7_0_47"/>
          <p:cNvSpPr txBox="1"/>
          <p:nvPr/>
        </p:nvSpPr>
        <p:spPr>
          <a:xfrm>
            <a:off x="334160" y="432817"/>
            <a:ext cx="98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Arial"/>
              <a:buNone/>
            </a:pPr>
            <a:r>
              <a:rPr b="1" lang="ko-KR" sz="3600">
                <a:solidFill>
                  <a:srgbClr val="1E2761"/>
                </a:solidFill>
                <a:latin typeface="Malgun Gothic"/>
                <a:ea typeface="Malgun Gothic"/>
                <a:cs typeface="Malgun Gothic"/>
                <a:sym typeface="Malgun Gothic"/>
              </a:rPr>
              <a:t>II</a:t>
            </a:r>
            <a:r>
              <a:rPr b="1" i="0" lang="ko-KR" sz="3600" u="none" cap="none" strike="noStrike">
                <a:solidFill>
                  <a:srgbClr val="1E276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b="1" i="0" sz="3600" u="none" cap="none" strike="noStrike">
              <a:solidFill>
                <a:srgbClr val="1E276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7" name="Google Shape;217;g409d4efb4a7_0_47"/>
          <p:cNvSpPr/>
          <p:nvPr/>
        </p:nvSpPr>
        <p:spPr>
          <a:xfrm>
            <a:off x="1714964" y="341332"/>
            <a:ext cx="963600" cy="268200"/>
          </a:xfrm>
          <a:prstGeom prst="roundRect">
            <a:avLst>
              <a:gd fmla="val 50000" name="adj"/>
            </a:avLst>
          </a:prstGeom>
          <a:solidFill>
            <a:srgbClr val="F4E2C2"/>
          </a:solidFill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8" name="Google Shape;218;g409d4efb4a7_0_47"/>
          <p:cNvSpPr txBox="1"/>
          <p:nvPr/>
        </p:nvSpPr>
        <p:spPr>
          <a:xfrm>
            <a:off x="1714964" y="341320"/>
            <a:ext cx="9636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5E18"/>
              </a:buClr>
              <a:buSzPts val="341"/>
              <a:buFont typeface="Malgun Gothic"/>
              <a:buNone/>
            </a:pPr>
            <a:r>
              <a:rPr b="1" i="0" lang="ko-KR" sz="1362" u="none" cap="none" strike="noStrike">
                <a:solidFill>
                  <a:srgbClr val="8A5E18"/>
                </a:solidFill>
                <a:latin typeface="Malgun Gothic"/>
                <a:ea typeface="Malgun Gothic"/>
                <a:cs typeface="Malgun Gothic"/>
                <a:sym typeface="Malgun Gothic"/>
              </a:rPr>
              <a:t>INPUT</a:t>
            </a:r>
            <a:endParaRPr b="1" i="0" sz="1362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19" name="Google Shape;219;g409d4efb4a7_0_47" title="KakaoTalk_Photo_2026-09-13-03-06-3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75700" y="1353000"/>
            <a:ext cx="6099376" cy="5287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g409d4efb4a7_0_54" title="해시태깅 친환경 건물 건축 와이드 프레젠테이션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175"/>
            <a:ext cx="12192000" cy="7024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g409d4efb4a7_0_54"/>
          <p:cNvSpPr/>
          <p:nvPr/>
        </p:nvSpPr>
        <p:spPr>
          <a:xfrm>
            <a:off x="-3175" y="-3200"/>
            <a:ext cx="12192000" cy="7024500"/>
          </a:xfrm>
          <a:prstGeom prst="rect">
            <a:avLst/>
          </a:prstGeom>
          <a:gradFill>
            <a:gsLst>
              <a:gs pos="0">
                <a:srgbClr val="FFFFFF">
                  <a:alpha val="90196"/>
                </a:srgbClr>
              </a:gs>
              <a:gs pos="31000">
                <a:srgbClr val="FFFFFF">
                  <a:alpha val="60000"/>
                </a:srgbClr>
              </a:gs>
              <a:gs pos="67000">
                <a:srgbClr val="FFFFFF">
                  <a:alpha val="30196"/>
                </a:srgbClr>
              </a:gs>
              <a:gs pos="99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27" name="Google Shape;227;g409d4efb4a7_0_54" title="스크린샷 2026-09-13 오전 2.00.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2764946" y="4065135"/>
            <a:ext cx="27266" cy="2306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g409d4efb4a7_0_54"/>
          <p:cNvSpPr txBox="1"/>
          <p:nvPr/>
        </p:nvSpPr>
        <p:spPr>
          <a:xfrm>
            <a:off x="970423" y="347472"/>
            <a:ext cx="5943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275"/>
              <a:buFont typeface="Malgun Gothic"/>
              <a:buNone/>
            </a:pPr>
            <a:r>
              <a:rPr b="1" lang="ko-KR" sz="1100">
                <a:solidFill>
                  <a:srgbClr val="6B7086"/>
                </a:solidFill>
                <a:latin typeface="Malgun Gothic"/>
                <a:ea typeface="Malgun Gothic"/>
                <a:cs typeface="Malgun Gothic"/>
                <a:sym typeface="Malgun Gothic"/>
              </a:rPr>
              <a:t>SOLUTION </a:t>
            </a:r>
            <a:endParaRPr b="0"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9" name="Google Shape;229;g409d4efb4a7_0_54"/>
          <p:cNvSpPr txBox="1"/>
          <p:nvPr/>
        </p:nvSpPr>
        <p:spPr>
          <a:xfrm>
            <a:off x="970423" y="566928"/>
            <a:ext cx="10424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2500"/>
              <a:buFont typeface="Malgun Gothic"/>
              <a:buNone/>
            </a:pPr>
            <a:r>
              <a:rPr b="1" lang="ko-KR" sz="2200">
                <a:solidFill>
                  <a:srgbClr val="1B2340"/>
                </a:solidFill>
                <a:latin typeface="Malgun Gothic"/>
                <a:ea typeface="Malgun Gothic"/>
                <a:cs typeface="Malgun Gothic"/>
                <a:sym typeface="Malgun Gothic"/>
              </a:rPr>
              <a:t>6가지 정보만 입력하면, AI가 가장 적합한 공간을 찾아줍니다</a:t>
            </a:r>
            <a:endParaRPr b="0" i="0" sz="2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30" name="Google Shape;230;g409d4efb4a7_0_54"/>
          <p:cNvCxnSpPr/>
          <p:nvPr/>
        </p:nvCxnSpPr>
        <p:spPr>
          <a:xfrm>
            <a:off x="411480" y="1078992"/>
            <a:ext cx="11366100" cy="0"/>
          </a:xfrm>
          <a:prstGeom prst="straightConnector1">
            <a:avLst/>
          </a:prstGeom>
          <a:noFill/>
          <a:ln cap="flat" cmpd="sng" w="19050">
            <a:solidFill>
              <a:srgbClr val="1215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1" name="Google Shape;231;g409d4efb4a7_0_54"/>
          <p:cNvSpPr txBox="1"/>
          <p:nvPr/>
        </p:nvSpPr>
        <p:spPr>
          <a:xfrm>
            <a:off x="334160" y="432817"/>
            <a:ext cx="98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Arial"/>
              <a:buNone/>
            </a:pPr>
            <a:r>
              <a:rPr b="1" lang="ko-KR" sz="3600">
                <a:solidFill>
                  <a:srgbClr val="1E2761"/>
                </a:solidFill>
                <a:latin typeface="Malgun Gothic"/>
                <a:ea typeface="Malgun Gothic"/>
                <a:cs typeface="Malgun Gothic"/>
                <a:sym typeface="Malgun Gothic"/>
              </a:rPr>
              <a:t>II</a:t>
            </a:r>
            <a:r>
              <a:rPr b="1" i="0" lang="ko-KR" sz="3600" u="none" cap="none" strike="noStrike">
                <a:solidFill>
                  <a:srgbClr val="1E276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b="1" i="0" sz="3600" u="none" cap="none" strike="noStrike">
              <a:solidFill>
                <a:srgbClr val="1E276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2" name="Google Shape;232;g409d4efb4a7_0_54"/>
          <p:cNvSpPr/>
          <p:nvPr/>
        </p:nvSpPr>
        <p:spPr>
          <a:xfrm>
            <a:off x="1727292" y="341322"/>
            <a:ext cx="1047600" cy="268200"/>
          </a:xfrm>
          <a:prstGeom prst="roundRect">
            <a:avLst>
              <a:gd fmla="val 50000" name="adj"/>
            </a:avLst>
          </a:prstGeom>
          <a:solidFill>
            <a:srgbClr val="F4E2C2"/>
          </a:solidFill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3" name="Google Shape;233;g409d4efb4a7_0_54"/>
          <p:cNvSpPr txBox="1"/>
          <p:nvPr/>
        </p:nvSpPr>
        <p:spPr>
          <a:xfrm>
            <a:off x="1727292" y="341322"/>
            <a:ext cx="10476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5E18"/>
              </a:buClr>
              <a:buSzPts val="341"/>
              <a:buFont typeface="Malgun Gothic"/>
              <a:buNone/>
            </a:pPr>
            <a:r>
              <a:rPr b="1" i="0" lang="ko-KR" sz="1362" u="none" cap="none" strike="noStrike">
                <a:solidFill>
                  <a:srgbClr val="8A5E18"/>
                </a:solidFill>
                <a:latin typeface="Malgun Gothic"/>
                <a:ea typeface="Malgun Gothic"/>
                <a:cs typeface="Malgun Gothic"/>
                <a:sym typeface="Malgun Gothic"/>
              </a:rPr>
              <a:t>OUTPUT</a:t>
            </a:r>
            <a:endParaRPr b="0" i="0" sz="1362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34" name="Google Shape;234;g409d4efb4a7_0_54" title="KakaoTalk_Photo_2026-09-13-02-59-5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98522" y="1172948"/>
            <a:ext cx="9967903" cy="55290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g409d4efb4a7_0_61" title="해시태깅 친환경 건물 건축 와이드 프레젠테이션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175"/>
            <a:ext cx="12192000" cy="70244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g409d4efb4a7_0_61"/>
          <p:cNvSpPr/>
          <p:nvPr/>
        </p:nvSpPr>
        <p:spPr>
          <a:xfrm>
            <a:off x="-3175" y="-3200"/>
            <a:ext cx="12192000" cy="7024500"/>
          </a:xfrm>
          <a:prstGeom prst="rect">
            <a:avLst/>
          </a:prstGeom>
          <a:gradFill>
            <a:gsLst>
              <a:gs pos="0">
                <a:srgbClr val="FFFFFF">
                  <a:alpha val="90196"/>
                </a:srgbClr>
              </a:gs>
              <a:gs pos="31000">
                <a:srgbClr val="FFFFFF">
                  <a:alpha val="60000"/>
                </a:srgbClr>
              </a:gs>
              <a:gs pos="67000">
                <a:srgbClr val="FFFFFF">
                  <a:alpha val="30196"/>
                </a:srgbClr>
              </a:gs>
              <a:gs pos="99000">
                <a:srgbClr val="EFEFEF"/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42" name="Google Shape;242;g409d4efb4a7_0_61" title="스크린샷 2026-09-13 오전 2.00.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2764946" y="4065135"/>
            <a:ext cx="27266" cy="23069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g409d4efb4a7_0_61"/>
          <p:cNvSpPr/>
          <p:nvPr/>
        </p:nvSpPr>
        <p:spPr>
          <a:xfrm>
            <a:off x="409775" y="1133875"/>
            <a:ext cx="11366100" cy="4849200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1650">
            <a:solidFill>
              <a:srgbClr val="DCDFEC"/>
            </a:solidFill>
            <a:prstDash val="solid"/>
            <a:round/>
            <a:headEnd len="sm" w="sm" type="none"/>
            <a:tailEnd len="sm" w="sm" type="none"/>
          </a:ln>
          <a:effectLst>
            <a:outerShdw blurRad="116399" rotWithShape="0" algn="bl" dir="5400000" dist="34920">
              <a:srgbClr val="9AA0C0">
                <a:alpha val="34900"/>
              </a:srgbClr>
            </a:outerShdw>
          </a:effectLst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4" name="Google Shape;244;g409d4efb4a7_0_61"/>
          <p:cNvSpPr txBox="1"/>
          <p:nvPr/>
        </p:nvSpPr>
        <p:spPr>
          <a:xfrm>
            <a:off x="970423" y="347472"/>
            <a:ext cx="5943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275"/>
              <a:buFont typeface="Malgun Gothic"/>
              <a:buNone/>
            </a:pPr>
            <a:r>
              <a:rPr b="1" lang="ko-KR" sz="1100">
                <a:solidFill>
                  <a:srgbClr val="6B7086"/>
                </a:solidFill>
                <a:latin typeface="Malgun Gothic"/>
                <a:ea typeface="Malgun Gothic"/>
                <a:cs typeface="Malgun Gothic"/>
                <a:sym typeface="Malgun Gothic"/>
              </a:rPr>
              <a:t>BUSINESS MODEL </a:t>
            </a:r>
            <a:endParaRPr b="0"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5" name="Google Shape;245;g409d4efb4a7_0_61"/>
          <p:cNvSpPr txBox="1"/>
          <p:nvPr/>
        </p:nvSpPr>
        <p:spPr>
          <a:xfrm>
            <a:off x="970423" y="566928"/>
            <a:ext cx="10424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2500"/>
              <a:buFont typeface="Malgun Gothic"/>
              <a:buNone/>
            </a:pPr>
            <a:r>
              <a:rPr b="1" lang="ko-KR" sz="2500">
                <a:solidFill>
                  <a:srgbClr val="1D255C"/>
                </a:solidFill>
                <a:latin typeface="Malgun Gothic"/>
                <a:ea typeface="Malgun Gothic"/>
                <a:cs typeface="Malgun Gothic"/>
                <a:sym typeface="Malgun Gothic"/>
              </a:rPr>
              <a:t>무료 매칭에서 지자체 제휴·구독으로 수익화합니다</a:t>
            </a:r>
            <a:endParaRPr b="1" i="0" sz="2200" u="none" cap="none" strike="noStrike">
              <a:solidFill>
                <a:srgbClr val="1D255C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46" name="Google Shape;246;g409d4efb4a7_0_61"/>
          <p:cNvCxnSpPr/>
          <p:nvPr/>
        </p:nvCxnSpPr>
        <p:spPr>
          <a:xfrm>
            <a:off x="411480" y="1078992"/>
            <a:ext cx="11366100" cy="0"/>
          </a:xfrm>
          <a:prstGeom prst="straightConnector1">
            <a:avLst/>
          </a:prstGeom>
          <a:noFill/>
          <a:ln cap="flat" cmpd="sng" w="19050">
            <a:solidFill>
              <a:srgbClr val="1215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7" name="Google Shape;247;g409d4efb4a7_0_61"/>
          <p:cNvSpPr txBox="1"/>
          <p:nvPr/>
        </p:nvSpPr>
        <p:spPr>
          <a:xfrm>
            <a:off x="334160" y="432817"/>
            <a:ext cx="98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Arial"/>
              <a:buNone/>
            </a:pPr>
            <a:r>
              <a:rPr b="1" lang="ko-KR" sz="3600">
                <a:solidFill>
                  <a:srgbClr val="1E2761"/>
                </a:solidFill>
                <a:latin typeface="Malgun Gothic"/>
                <a:ea typeface="Malgun Gothic"/>
                <a:cs typeface="Malgun Gothic"/>
                <a:sym typeface="Malgun Gothic"/>
              </a:rPr>
              <a:t>III</a:t>
            </a:r>
            <a:r>
              <a:rPr b="1" i="0" lang="ko-KR" sz="3600" u="none" cap="none" strike="noStrike">
                <a:solidFill>
                  <a:srgbClr val="1E276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b="1" i="0" sz="3600" u="none" cap="none" strike="noStrike">
              <a:solidFill>
                <a:srgbClr val="1E276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8" name="Google Shape;248;g409d4efb4a7_0_61"/>
          <p:cNvSpPr/>
          <p:nvPr/>
        </p:nvSpPr>
        <p:spPr>
          <a:xfrm>
            <a:off x="499425" y="6105654"/>
            <a:ext cx="11366100" cy="515100"/>
          </a:xfrm>
          <a:prstGeom prst="roundRect">
            <a:avLst>
              <a:gd fmla="val 14545" name="adj"/>
            </a:avLst>
          </a:prstGeom>
          <a:solidFill>
            <a:srgbClr val="2C3A63"/>
          </a:solidFill>
          <a:ln>
            <a:noFill/>
          </a:ln>
        </p:spPr>
        <p:txBody>
          <a:bodyPr anchorCtr="0" anchor="ctr" bIns="93675" lIns="93675" spcFirstLastPara="1" rIns="93675" wrap="square" tIns="93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409d4efb4a7_0_61"/>
          <p:cNvSpPr txBox="1"/>
          <p:nvPr/>
        </p:nvSpPr>
        <p:spPr>
          <a:xfrm>
            <a:off x="2000525" y="6218000"/>
            <a:ext cx="81846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32"/>
              <a:buFont typeface="Malgun Gothic"/>
              <a:buNone/>
            </a:pPr>
            <a:r>
              <a:rPr b="1" i="0" lang="ko-KR" sz="1632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무료 매칭으로 사용자를 먼저 확보</a:t>
            </a:r>
            <a:r>
              <a:rPr b="1" lang="ko-KR" sz="1632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 뒤,</a:t>
            </a:r>
            <a:r>
              <a:rPr b="1" i="0" lang="ko-KR" sz="1632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지자체 </a:t>
            </a:r>
            <a:r>
              <a:rPr b="1" lang="ko-KR" sz="1632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제휴와 프리미엄 구독으로 단계적으로 수익화합니다.</a:t>
            </a:r>
            <a:endParaRPr b="1" i="0" sz="1632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50" name="Google Shape;250;g409d4efb4a7_0_61" title="ChatGPT Image 2026년 9월 13일 오전 01_23_2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5989" y="1218369"/>
            <a:ext cx="11366102" cy="46955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g409d4efb4a7_0_61" title="스크린샷 2026-09-13 오전 1.25.47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24400" y="1964100"/>
            <a:ext cx="76325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g409d4efb4a7_0_61" title="스크린샷 2026-09-13 오전 1.26.2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25000" y="2058437"/>
            <a:ext cx="100546" cy="25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g409d4efb4a7_0_61" title="스크린샷 2026-09-13 오전 1.25.47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94450" y="2092625"/>
            <a:ext cx="129950" cy="17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g409d4efb4a7_0_61" title="스크린샷 2026-09-13 오전 1.28.54.png"/>
          <p:cNvPicPr preferRelativeResize="0"/>
          <p:nvPr/>
        </p:nvPicPr>
        <p:blipFill rotWithShape="1">
          <a:blip r:embed="rId8">
            <a:alphaModFix/>
          </a:blip>
          <a:srcRect b="0" l="0" r="7287" t="0"/>
          <a:stretch/>
        </p:blipFill>
        <p:spPr>
          <a:xfrm>
            <a:off x="6212607" y="2092625"/>
            <a:ext cx="113650" cy="17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g409d4efb4a7_0_68" title="해시태깅 친환경 건물 건축 와이드 프레젠테이션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175"/>
            <a:ext cx="12192000" cy="70244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g409d4efb4a7_0_68"/>
          <p:cNvSpPr/>
          <p:nvPr/>
        </p:nvSpPr>
        <p:spPr>
          <a:xfrm>
            <a:off x="-3175" y="-3200"/>
            <a:ext cx="12192000" cy="7024500"/>
          </a:xfrm>
          <a:prstGeom prst="rect">
            <a:avLst/>
          </a:prstGeom>
          <a:gradFill>
            <a:gsLst>
              <a:gs pos="0">
                <a:srgbClr val="FFFFFF">
                  <a:alpha val="90196"/>
                </a:srgbClr>
              </a:gs>
              <a:gs pos="31000">
                <a:srgbClr val="FFFFFF">
                  <a:alpha val="60000"/>
                </a:srgbClr>
              </a:gs>
              <a:gs pos="67000">
                <a:srgbClr val="FFFFFF">
                  <a:alpha val="30196"/>
                </a:srgbClr>
              </a:gs>
              <a:gs pos="99000">
                <a:srgbClr val="EFEFEF"/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62" name="Google Shape;262;g409d4efb4a7_0_68" title="스크린샷 2026-09-13 오전 2.00.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2764946" y="4065135"/>
            <a:ext cx="27266" cy="23069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g409d4efb4a7_0_68"/>
          <p:cNvSpPr txBox="1"/>
          <p:nvPr/>
        </p:nvSpPr>
        <p:spPr>
          <a:xfrm>
            <a:off x="994571" y="347472"/>
            <a:ext cx="5943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275"/>
              <a:buFont typeface="Malgun Gothic"/>
              <a:buNone/>
            </a:pPr>
            <a:r>
              <a:rPr b="1" lang="ko-KR" sz="1100">
                <a:solidFill>
                  <a:srgbClr val="6B7086"/>
                </a:solidFill>
                <a:latin typeface="Malgun Gothic"/>
                <a:ea typeface="Malgun Gothic"/>
                <a:cs typeface="Malgun Gothic"/>
                <a:sym typeface="Malgun Gothic"/>
              </a:rPr>
              <a:t>MARKET SIZE </a:t>
            </a:r>
            <a:r>
              <a:rPr b="1" lang="ko-KR" sz="1113">
                <a:solidFill>
                  <a:srgbClr val="5B6472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— TAM · SAM · SOM</a:t>
            </a:r>
            <a:endParaRPr b="1" sz="1100">
              <a:solidFill>
                <a:srgbClr val="6B708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4" name="Google Shape;264;g409d4efb4a7_0_68"/>
          <p:cNvSpPr txBox="1"/>
          <p:nvPr/>
        </p:nvSpPr>
        <p:spPr>
          <a:xfrm>
            <a:off x="994571" y="566928"/>
            <a:ext cx="10424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Font typeface="Arial"/>
              <a:buNone/>
            </a:pPr>
            <a:r>
              <a:rPr b="1" lang="ko-KR" sz="2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시장은 이미 있고, 공실은 계속 늘고 있습니다</a:t>
            </a:r>
            <a:endParaRPr b="1" i="0" sz="2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65" name="Google Shape;265;g409d4efb4a7_0_68"/>
          <p:cNvCxnSpPr/>
          <p:nvPr/>
        </p:nvCxnSpPr>
        <p:spPr>
          <a:xfrm>
            <a:off x="411480" y="1078992"/>
            <a:ext cx="11366100" cy="0"/>
          </a:xfrm>
          <a:prstGeom prst="straightConnector1">
            <a:avLst/>
          </a:prstGeom>
          <a:noFill/>
          <a:ln cap="flat" cmpd="sng" w="19050">
            <a:solidFill>
              <a:srgbClr val="1215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6" name="Google Shape;266;g409d4efb4a7_0_68"/>
          <p:cNvSpPr txBox="1"/>
          <p:nvPr/>
        </p:nvSpPr>
        <p:spPr>
          <a:xfrm>
            <a:off x="334160" y="432817"/>
            <a:ext cx="98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Arial"/>
              <a:buNone/>
            </a:pPr>
            <a:r>
              <a:rPr b="1" lang="ko-KR" sz="3600">
                <a:solidFill>
                  <a:srgbClr val="1E2761"/>
                </a:solidFill>
                <a:latin typeface="Malgun Gothic"/>
                <a:ea typeface="Malgun Gothic"/>
                <a:cs typeface="Malgun Gothic"/>
                <a:sym typeface="Malgun Gothic"/>
              </a:rPr>
              <a:t>IV</a:t>
            </a:r>
            <a:r>
              <a:rPr b="1" i="0" lang="ko-KR" sz="3600" u="none" cap="none" strike="noStrike">
                <a:solidFill>
                  <a:srgbClr val="1E276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b="1" i="0" sz="3600" u="none" cap="none" strike="noStrike">
              <a:solidFill>
                <a:srgbClr val="1E276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67" name="Google Shape;267;g409d4efb4a7_0_68" title="스크린샷 2026-09-13 오전 2.11.1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7113" y="1221128"/>
            <a:ext cx="10831427" cy="5563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g409d4efb4a7_0_68" title="스크린샷 2026-09-13 오전 2.13.30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04638" y="3639225"/>
            <a:ext cx="3381680" cy="64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g409d4efb4a7_0_68" title="ChatGPT Image 2026년 9월 13일 오전 02_15_28.png"/>
          <p:cNvPicPr preferRelativeResize="0"/>
          <p:nvPr/>
        </p:nvPicPr>
        <p:blipFill rotWithShape="1">
          <a:blip r:embed="rId7">
            <a:alphaModFix/>
          </a:blip>
          <a:srcRect b="24842" l="0" r="0" t="19145"/>
          <a:stretch/>
        </p:blipFill>
        <p:spPr>
          <a:xfrm>
            <a:off x="4347125" y="3607268"/>
            <a:ext cx="3460849" cy="64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g409d4efb4a7_0_75" title="해시태깅 친환경 건물 건축 와이드 프레젠테이션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175"/>
            <a:ext cx="12192000" cy="7024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g409d4efb4a7_0_75"/>
          <p:cNvSpPr/>
          <p:nvPr/>
        </p:nvSpPr>
        <p:spPr>
          <a:xfrm>
            <a:off x="-3175" y="-3200"/>
            <a:ext cx="12192000" cy="7024500"/>
          </a:xfrm>
          <a:prstGeom prst="rect">
            <a:avLst/>
          </a:prstGeom>
          <a:gradFill>
            <a:gsLst>
              <a:gs pos="0">
                <a:srgbClr val="FFFFFF">
                  <a:alpha val="90196"/>
                </a:srgbClr>
              </a:gs>
              <a:gs pos="31000">
                <a:srgbClr val="FFFFFF">
                  <a:alpha val="60000"/>
                </a:srgbClr>
              </a:gs>
              <a:gs pos="67000">
                <a:srgbClr val="FFFFFF">
                  <a:alpha val="30196"/>
                </a:srgbClr>
              </a:gs>
              <a:gs pos="99000">
                <a:srgbClr val="EFEFEF"/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77" name="Google Shape;277;g409d4efb4a7_0_75" title="스크린샷 2026-09-13 오전 2.00.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2764946" y="4065135"/>
            <a:ext cx="27266" cy="2306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g409d4efb4a7_0_75"/>
          <p:cNvSpPr/>
          <p:nvPr/>
        </p:nvSpPr>
        <p:spPr>
          <a:xfrm>
            <a:off x="715716" y="5729292"/>
            <a:ext cx="10680300" cy="836400"/>
          </a:xfrm>
          <a:prstGeom prst="roundRect">
            <a:avLst>
              <a:gd fmla="val 8421" name="adj"/>
            </a:avLst>
          </a:prstGeom>
          <a:solidFill>
            <a:srgbClr val="1B2340"/>
          </a:solidFill>
          <a:ln>
            <a:noFill/>
          </a:ln>
        </p:spPr>
        <p:txBody>
          <a:bodyPr anchorCtr="0" anchor="ctr" bIns="88000" lIns="88000" spcFirstLastPara="1" rIns="88000" wrap="square" tIns="88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409d4efb4a7_0_75"/>
          <p:cNvSpPr txBox="1"/>
          <p:nvPr/>
        </p:nvSpPr>
        <p:spPr>
          <a:xfrm>
            <a:off x="970423" y="347472"/>
            <a:ext cx="5943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275"/>
              <a:buFont typeface="Malgun Gothic"/>
              <a:buNone/>
            </a:pPr>
            <a:r>
              <a:rPr b="1" lang="ko-KR" sz="1100">
                <a:solidFill>
                  <a:srgbClr val="6B7086"/>
                </a:solidFill>
                <a:latin typeface="Malgun Gothic"/>
                <a:ea typeface="Malgun Gothic"/>
                <a:cs typeface="Malgun Gothic"/>
                <a:sym typeface="Malgun Gothic"/>
              </a:rPr>
              <a:t>DIFFERENTIATION</a:t>
            </a:r>
            <a:endParaRPr b="1" sz="1100">
              <a:solidFill>
                <a:srgbClr val="6B708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0" name="Google Shape;280;g409d4efb4a7_0_75"/>
          <p:cNvSpPr txBox="1"/>
          <p:nvPr/>
        </p:nvSpPr>
        <p:spPr>
          <a:xfrm>
            <a:off x="970423" y="566928"/>
            <a:ext cx="10424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71B3D"/>
              </a:buClr>
              <a:buSzPts val="550"/>
              <a:buFont typeface="Malgun Gothic"/>
              <a:buNone/>
            </a:pPr>
            <a:r>
              <a:rPr b="1" lang="ko-KR" sz="2200">
                <a:solidFill>
                  <a:srgbClr val="171B3D"/>
                </a:solidFill>
                <a:latin typeface="Malgun Gothic"/>
                <a:ea typeface="Malgun Gothic"/>
                <a:cs typeface="Malgun Gothic"/>
                <a:sym typeface="Malgun Gothic"/>
              </a:rPr>
              <a:t>완전한 대안은 아직 없습니다</a:t>
            </a:r>
            <a:endParaRPr b="1" i="0" sz="2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81" name="Google Shape;281;g409d4efb4a7_0_75"/>
          <p:cNvCxnSpPr/>
          <p:nvPr/>
        </p:nvCxnSpPr>
        <p:spPr>
          <a:xfrm>
            <a:off x="411480" y="1078992"/>
            <a:ext cx="11366100" cy="0"/>
          </a:xfrm>
          <a:prstGeom prst="straightConnector1">
            <a:avLst/>
          </a:prstGeom>
          <a:noFill/>
          <a:ln cap="flat" cmpd="sng" w="19050">
            <a:solidFill>
              <a:srgbClr val="1215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2" name="Google Shape;282;g409d4efb4a7_0_75"/>
          <p:cNvSpPr txBox="1"/>
          <p:nvPr/>
        </p:nvSpPr>
        <p:spPr>
          <a:xfrm>
            <a:off x="334160" y="432817"/>
            <a:ext cx="98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Arial"/>
              <a:buNone/>
            </a:pPr>
            <a:r>
              <a:rPr b="1" lang="ko-KR" sz="3600">
                <a:solidFill>
                  <a:srgbClr val="1E2761"/>
                </a:solidFill>
                <a:latin typeface="Malgun Gothic"/>
                <a:ea typeface="Malgun Gothic"/>
                <a:cs typeface="Malgun Gothic"/>
                <a:sym typeface="Malgun Gothic"/>
              </a:rPr>
              <a:t>V</a:t>
            </a:r>
            <a:r>
              <a:rPr b="1" i="0" lang="ko-KR" sz="3600" u="none" cap="none" strike="noStrike">
                <a:solidFill>
                  <a:srgbClr val="1E276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b="1" i="0" sz="3600" u="none" cap="none" strike="noStrike">
              <a:solidFill>
                <a:srgbClr val="1E276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3" name="Google Shape;283;g409d4efb4a7_0_75"/>
          <p:cNvSpPr txBox="1"/>
          <p:nvPr/>
        </p:nvSpPr>
        <p:spPr>
          <a:xfrm>
            <a:off x="408380" y="1257785"/>
            <a:ext cx="9144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086"/>
              </a:buClr>
              <a:buSzPts val="338"/>
              <a:buFont typeface="Malgun Gothic"/>
              <a:buNone/>
            </a:pPr>
            <a:r>
              <a:rPr b="1" i="0" lang="ko-KR" sz="2050" u="none" cap="none" strike="noStrike">
                <a:solidFill>
                  <a:srgbClr val="1B2A57"/>
                </a:solidFill>
                <a:latin typeface="Malgun Gothic"/>
                <a:ea typeface="Malgun Gothic"/>
                <a:cs typeface="Malgun Gothic"/>
                <a:sym typeface="Malgun Gothic"/>
              </a:rPr>
              <a:t>COMPETITIVE POSITIONING — 우리는 어디에서 이기는가</a:t>
            </a:r>
            <a:endParaRPr b="0" i="0" sz="2050" u="none" cap="none" strike="noStrike">
              <a:solidFill>
                <a:srgbClr val="1B2A57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4" name="Google Shape;284;g409d4efb4a7_0_75"/>
          <p:cNvSpPr txBox="1"/>
          <p:nvPr/>
        </p:nvSpPr>
        <p:spPr>
          <a:xfrm>
            <a:off x="878625" y="5912827"/>
            <a:ext cx="10607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DFF3"/>
              </a:buClr>
              <a:buSzPts val="363"/>
              <a:buFont typeface="Malgun Gothic"/>
              <a:buNone/>
            </a:pPr>
            <a:r>
              <a:rPr lang="ko-KR" sz="17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서비스는 매물 목록만 보여주고, 부동산 개별 상담은 느립니다. — 그 사이 빈틈을 </a:t>
            </a:r>
            <a:r>
              <a:rPr b="1" lang="ko-KR" sz="17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채움이 데이터와 근거로 자동화</a:t>
            </a:r>
            <a:r>
              <a:rPr lang="ko-KR" sz="17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합니다. </a:t>
            </a:r>
            <a:endParaRPr i="0" sz="17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5" name="Google Shape;285;g409d4efb4a7_0_75"/>
          <p:cNvSpPr/>
          <p:nvPr/>
        </p:nvSpPr>
        <p:spPr>
          <a:xfrm>
            <a:off x="417525" y="1825835"/>
            <a:ext cx="11366100" cy="3608400"/>
          </a:xfrm>
          <a:prstGeom prst="roundRect">
            <a:avLst>
              <a:gd fmla="val 2837" name="adj"/>
            </a:avLst>
          </a:prstGeom>
          <a:solidFill>
            <a:srgbClr val="FFFFFF"/>
          </a:solidFill>
          <a:ln cap="flat" cmpd="sng" w="11650">
            <a:solidFill>
              <a:srgbClr val="DCDFEC"/>
            </a:solidFill>
            <a:prstDash val="solid"/>
            <a:round/>
            <a:headEnd len="sm" w="sm" type="none"/>
            <a:tailEnd len="sm" w="sm" type="none"/>
          </a:ln>
          <a:effectLst>
            <a:outerShdw blurRad="116399" rotWithShape="0" algn="bl" dir="5400000" dist="34920">
              <a:srgbClr val="9AA0C0">
                <a:alpha val="34900"/>
              </a:srgbClr>
            </a:outerShdw>
          </a:effectLst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286" name="Google Shape;286;g409d4efb4a7_0_75"/>
          <p:cNvGraphicFramePr/>
          <p:nvPr/>
        </p:nvGraphicFramePr>
        <p:xfrm>
          <a:off x="485516" y="19153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{E76AF1A7-7BBB-4D50-95D9-546AD30123B8}</a:tableStyleId>
              </a:tblPr>
              <a:tblGrid>
                <a:gridCol w="1322525"/>
                <a:gridCol w="2700150"/>
                <a:gridCol w="2477275"/>
                <a:gridCol w="2351825"/>
                <a:gridCol w="2343075"/>
              </a:tblGrid>
              <a:tr h="454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25"/>
                        <a:buFont typeface="Arial"/>
                        <a:buNone/>
                      </a:pPr>
                      <a:r>
                        <a:rPr lang="ko-KR" sz="160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비교 항목</a:t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400"/>
                        <a:buFont typeface="Arial"/>
                        <a:buNone/>
                      </a:pPr>
                      <a:r>
                        <a:rPr b="1" lang="ko-KR" sz="190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기존 부동산 앱</a:t>
                      </a:r>
                      <a:endParaRPr b="1" sz="190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25"/>
                        <a:buFont typeface="Arial"/>
                        <a:buNone/>
                      </a:pPr>
                      <a:r>
                        <a:rPr lang="ko-KR" sz="120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직방</a:t>
                      </a:r>
                      <a:r>
                        <a:rPr lang="ko-KR" sz="120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·</a:t>
                      </a:r>
                      <a:r>
                        <a:rPr lang="ko-KR" sz="120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다방 등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ko-KR" sz="190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부동산 개별 상담</a:t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400"/>
                        <a:buFont typeface="Arial"/>
                        <a:buNone/>
                      </a:pPr>
                      <a:r>
                        <a:rPr b="1" lang="ko-KR" sz="190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범용 AI</a:t>
                      </a:r>
                      <a:endParaRPr b="1" sz="190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25"/>
                        <a:buFont typeface="Arial"/>
                        <a:buNone/>
                      </a:pPr>
                      <a:r>
                        <a:rPr lang="ko-KR" sz="1200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GPT</a:t>
                      </a:r>
                      <a:r>
                        <a:rPr lang="ko-KR" u="none" cap="none" strike="noStrik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·claude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C441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00"/>
                        <a:buFont typeface="Arial"/>
                        <a:buNone/>
                      </a:pPr>
                      <a:r>
                        <a:rPr b="1" lang="ko-KR" sz="19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채움</a:t>
                      </a:r>
                      <a:endParaRPr b="1" sz="19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5C441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C441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C441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C441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B942"/>
                    </a:solidFill>
                  </a:tcPr>
                </a:tc>
              </a:tr>
              <a:tr h="576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50"/>
                        <a:buFont typeface="Arial"/>
                        <a:buNone/>
                      </a:pPr>
                      <a:r>
                        <a:rPr lang="ko-KR" sz="17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비용</a:t>
                      </a:r>
                      <a:endParaRPr sz="15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75"/>
                        <a:buFont typeface="Arial"/>
                        <a:buNone/>
                      </a:pPr>
                      <a:r>
                        <a:rPr lang="ko-KR" sz="18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무료</a:t>
                      </a:r>
                      <a:endParaRPr sz="18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75"/>
                        <a:buFont typeface="Arial"/>
                        <a:buNone/>
                      </a:pPr>
                      <a:r>
                        <a:rPr lang="ko-KR" sz="18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(매물 목록만)</a:t>
                      </a:r>
                      <a:endParaRPr sz="18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ko-KR" sz="18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무료</a:t>
                      </a:r>
                      <a:endParaRPr sz="18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ko-KR" sz="18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(대면 상담)</a:t>
                      </a:r>
                      <a:endParaRPr sz="18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75"/>
                        <a:buFont typeface="Arial"/>
                        <a:buNone/>
                      </a:pPr>
                      <a:r>
                        <a:rPr lang="ko-KR" sz="18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무료 </a:t>
                      </a:r>
                      <a:endParaRPr sz="18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75"/>
                        <a:buFont typeface="Arial"/>
                        <a:buNone/>
                      </a:pPr>
                      <a:r>
                        <a:rPr lang="ko-KR" sz="18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(일반 대화)</a:t>
                      </a:r>
                      <a:endParaRPr sz="18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75"/>
                        <a:buFont typeface="Arial"/>
                        <a:buNone/>
                      </a:pPr>
                      <a:r>
                        <a:rPr b="1" lang="ko-KR" sz="18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무료 </a:t>
                      </a:r>
                      <a:r>
                        <a:rPr b="1" lang="ko-KR" sz="18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매칭</a:t>
                      </a:r>
                      <a:endParaRPr b="1" sz="17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C441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61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50"/>
                        <a:buFont typeface="Arial"/>
                        <a:buNone/>
                      </a:pPr>
                      <a:r>
                        <a:rPr lang="ko-KR" sz="17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속도</a:t>
                      </a:r>
                      <a:endParaRPr sz="15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F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75"/>
                        <a:buFont typeface="Arial"/>
                        <a:buNone/>
                      </a:pPr>
                      <a:r>
                        <a:rPr lang="ko-KR" sz="18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즉시</a:t>
                      </a:r>
                      <a:br>
                        <a:rPr lang="ko-KR" sz="18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ko-KR" sz="18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(목록만 제공)</a:t>
                      </a:r>
                      <a:endParaRPr sz="18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F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ko-KR" sz="18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수일 ~ </a:t>
                      </a:r>
                      <a:r>
                        <a:rPr lang="ko-KR" sz="18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수주</a:t>
                      </a:r>
                      <a:endParaRPr sz="18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ko-KR" sz="18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(방문 상담 필요)</a:t>
                      </a:r>
                      <a:endParaRPr sz="18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F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75"/>
                        <a:buFont typeface="Arial"/>
                        <a:buNone/>
                      </a:pPr>
                      <a:r>
                        <a:rPr lang="ko-KR" sz="18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즉시</a:t>
                      </a:r>
                      <a:endParaRPr sz="18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75"/>
                        <a:buFont typeface="Arial"/>
                        <a:buNone/>
                      </a:pPr>
                      <a:r>
                        <a:rPr lang="ko-KR" sz="18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(근거 불확실)</a:t>
                      </a:r>
                      <a:endParaRPr sz="18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F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75"/>
                        <a:buFont typeface="Arial"/>
                        <a:buNone/>
                      </a:pPr>
                      <a:r>
                        <a:rPr b="1" lang="ko-KR" sz="18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즉시 </a:t>
                      </a:r>
                      <a:endParaRPr b="1" sz="17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61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50"/>
                        <a:buFont typeface="Arial"/>
                        <a:buNone/>
                      </a:pPr>
                      <a:r>
                        <a:rPr lang="ko-KR" sz="17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 퀄리티</a:t>
                      </a:r>
                      <a:endParaRPr sz="15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75"/>
                        <a:buFont typeface="Arial"/>
                        <a:buNone/>
                      </a:pPr>
                      <a:r>
                        <a:rPr lang="ko-KR" sz="18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매물 정보만</a:t>
                      </a:r>
                      <a:endParaRPr sz="17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ko-KR" sz="18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직접 확인 가능</a:t>
                      </a:r>
                      <a:endParaRPr sz="18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75"/>
                        <a:buFont typeface="Arial"/>
                        <a:buNone/>
                      </a:pPr>
                      <a:r>
                        <a:rPr lang="ko-KR" sz="18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없음</a:t>
                      </a:r>
                      <a:endParaRPr sz="17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75"/>
                        <a:buFont typeface="Arial"/>
                        <a:buNone/>
                      </a:pPr>
                      <a:r>
                        <a:rPr b="1" lang="ko-KR" sz="18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공공데이터</a:t>
                      </a:r>
                      <a:endParaRPr b="1" sz="18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75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50"/>
                        <a:buFont typeface="Arial"/>
                        <a:buNone/>
                      </a:pPr>
                      <a:r>
                        <a:rPr lang="ko-KR" sz="17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추천 근거</a:t>
                      </a:r>
                      <a:endParaRPr sz="15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F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75"/>
                        <a:buFont typeface="Arial"/>
                        <a:buNone/>
                      </a:pPr>
                      <a:r>
                        <a:rPr lang="ko-KR" sz="25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❌</a:t>
                      </a:r>
                      <a:endParaRPr sz="25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75"/>
                        <a:buFont typeface="Arial"/>
                        <a:buNone/>
                      </a:pPr>
                      <a:r>
                        <a:rPr lang="ko-KR" sz="18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(사용자가 직접 판단)</a:t>
                      </a:r>
                      <a:endParaRPr sz="18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F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ko-KR" sz="2500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🔺</a:t>
                      </a:r>
                      <a:endParaRPr b="1" sz="2500">
                        <a:solidFill>
                          <a:srgbClr val="0000F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ko-KR" sz="18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(담당자 경험 의존)</a:t>
                      </a:r>
                      <a:endParaRPr sz="18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F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75"/>
                        <a:buFont typeface="Arial"/>
                        <a:buNone/>
                      </a:pPr>
                      <a:r>
                        <a:rPr lang="ko-KR" sz="25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❌</a:t>
                      </a:r>
                      <a:endParaRPr sz="180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75"/>
                        <a:buFont typeface="Arial"/>
                        <a:buNone/>
                      </a:pPr>
                      <a:r>
                        <a:rPr lang="ko-KR" sz="18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(검증 안 됨)</a:t>
                      </a:r>
                      <a:endParaRPr sz="17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F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75"/>
                        <a:buFont typeface="Arial"/>
                        <a:buNone/>
                      </a:pPr>
                      <a:r>
                        <a:rPr b="1" lang="ko-KR" sz="2500">
                          <a:solidFill>
                            <a:srgbClr val="38761D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⭕</a:t>
                      </a:r>
                      <a:endParaRPr b="1" sz="2500">
                        <a:solidFill>
                          <a:srgbClr val="38761D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75"/>
                        <a:buFont typeface="Arial"/>
                        <a:buNone/>
                      </a:pPr>
                      <a:r>
                        <a:rPr b="1" lang="ko-KR" sz="18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Agent 검증 </a:t>
                      </a:r>
                      <a:endParaRPr b="1" sz="17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g409d4efb4a7_0_82" title="해시태깅 친환경 건물 건축 와이드 프레젠테이션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175"/>
            <a:ext cx="12192000" cy="702445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g409d4efb4a7_0_82"/>
          <p:cNvSpPr/>
          <p:nvPr/>
        </p:nvSpPr>
        <p:spPr>
          <a:xfrm>
            <a:off x="-3175" y="-17027"/>
            <a:ext cx="12192000" cy="7024500"/>
          </a:xfrm>
          <a:prstGeom prst="rect">
            <a:avLst/>
          </a:prstGeom>
          <a:gradFill>
            <a:gsLst>
              <a:gs pos="0">
                <a:srgbClr val="FFFFFF">
                  <a:alpha val="90196"/>
                </a:srgbClr>
              </a:gs>
              <a:gs pos="31000">
                <a:srgbClr val="FFFFFF">
                  <a:alpha val="60000"/>
                </a:srgbClr>
              </a:gs>
              <a:gs pos="67000">
                <a:srgbClr val="FFFFFF">
                  <a:alpha val="30196"/>
                </a:srgbClr>
              </a:gs>
              <a:gs pos="99000">
                <a:srgbClr val="EFEFEF"/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94" name="Google Shape;294;g409d4efb4a7_0_82" title="스크린샷 2026-09-13 오전 2.00.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2764946" y="4065135"/>
            <a:ext cx="27266" cy="23069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g409d4efb4a7_0_82"/>
          <p:cNvSpPr txBox="1"/>
          <p:nvPr/>
        </p:nvSpPr>
        <p:spPr>
          <a:xfrm>
            <a:off x="1331716" y="347472"/>
            <a:ext cx="5943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C93A6"/>
              </a:buClr>
              <a:buSzPts val="1200"/>
              <a:buFont typeface="Noto Sans"/>
              <a:buNone/>
            </a:pPr>
            <a:r>
              <a:rPr b="1" lang="ko-KR" sz="1200">
                <a:solidFill>
                  <a:srgbClr val="8C93A6"/>
                </a:solidFill>
                <a:latin typeface="Noto Sans"/>
                <a:ea typeface="Noto Sans"/>
                <a:cs typeface="Noto Sans"/>
                <a:sym typeface="Noto Sans"/>
              </a:rPr>
              <a:t>ROADMAP · REVENUE PROJECTION</a:t>
            </a:r>
            <a:endParaRPr b="1" sz="1100">
              <a:solidFill>
                <a:srgbClr val="6B708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6" name="Google Shape;296;g409d4efb4a7_0_82"/>
          <p:cNvSpPr txBox="1"/>
          <p:nvPr/>
        </p:nvSpPr>
        <p:spPr>
          <a:xfrm>
            <a:off x="1314561" y="550050"/>
            <a:ext cx="10424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2A57"/>
              </a:buClr>
              <a:buSzPts val="3200"/>
              <a:buFont typeface="Noto Sans"/>
              <a:buNone/>
            </a:pPr>
            <a:r>
              <a:rPr b="1" lang="ko-KR" sz="2500">
                <a:solidFill>
                  <a:srgbClr val="1B2A57"/>
                </a:solidFill>
                <a:latin typeface="Noto Sans"/>
                <a:ea typeface="Noto Sans"/>
                <a:cs typeface="Noto Sans"/>
                <a:sym typeface="Noto Sans"/>
              </a:rPr>
              <a:t>검증된 엔진 위에서 데이터를 넓히며, 매출도 함께 키웁니다</a:t>
            </a:r>
            <a:endParaRPr b="1" i="0" sz="2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97" name="Google Shape;297;g409d4efb4a7_0_82"/>
          <p:cNvCxnSpPr/>
          <p:nvPr/>
        </p:nvCxnSpPr>
        <p:spPr>
          <a:xfrm>
            <a:off x="411480" y="1078992"/>
            <a:ext cx="11366100" cy="0"/>
          </a:xfrm>
          <a:prstGeom prst="straightConnector1">
            <a:avLst/>
          </a:prstGeom>
          <a:noFill/>
          <a:ln cap="flat" cmpd="sng" w="19050">
            <a:solidFill>
              <a:srgbClr val="1215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8" name="Google Shape;298;g409d4efb4a7_0_82"/>
          <p:cNvSpPr txBox="1"/>
          <p:nvPr/>
        </p:nvSpPr>
        <p:spPr>
          <a:xfrm>
            <a:off x="334148" y="432825"/>
            <a:ext cx="120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00"/>
              <a:buFont typeface="Arial"/>
              <a:buNone/>
            </a:pPr>
            <a:r>
              <a:rPr b="1" lang="ko-KR" sz="3600">
                <a:solidFill>
                  <a:srgbClr val="1E2761"/>
                </a:solidFill>
                <a:latin typeface="Malgun Gothic"/>
                <a:ea typeface="Malgun Gothic"/>
                <a:cs typeface="Malgun Gothic"/>
                <a:sym typeface="Malgun Gothic"/>
              </a:rPr>
              <a:t>VII</a:t>
            </a:r>
            <a:r>
              <a:rPr b="1" i="0" lang="ko-KR" sz="3600" u="none" cap="none" strike="noStrike">
                <a:solidFill>
                  <a:srgbClr val="1E276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b="1" i="0" sz="3600" u="none" cap="none" strike="noStrike">
              <a:solidFill>
                <a:srgbClr val="1E276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9" name="Google Shape;299;g409d4efb4a7_0_82"/>
          <p:cNvSpPr/>
          <p:nvPr/>
        </p:nvSpPr>
        <p:spPr>
          <a:xfrm>
            <a:off x="9453992" y="2429131"/>
            <a:ext cx="76800" cy="8100"/>
          </a:xfrm>
          <a:prstGeom prst="rect">
            <a:avLst/>
          </a:prstGeom>
          <a:solidFill>
            <a:srgbClr val="E8F3FE"/>
          </a:solidFill>
          <a:ln cap="flat" cmpd="sng" w="9175">
            <a:solidFill>
              <a:srgbClr val="E6F3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000" lIns="88000" spcFirstLastPara="1" rIns="88000" wrap="square" tIns="8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8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g409d4efb4a7_0_82"/>
          <p:cNvSpPr/>
          <p:nvPr/>
        </p:nvSpPr>
        <p:spPr>
          <a:xfrm>
            <a:off x="715716" y="5729292"/>
            <a:ext cx="10680300" cy="836400"/>
          </a:xfrm>
          <a:prstGeom prst="roundRect">
            <a:avLst>
              <a:gd fmla="val 8421" name="adj"/>
            </a:avLst>
          </a:prstGeom>
          <a:solidFill>
            <a:srgbClr val="1B2340"/>
          </a:solidFill>
          <a:ln>
            <a:noFill/>
          </a:ln>
        </p:spPr>
        <p:txBody>
          <a:bodyPr anchorCtr="0" anchor="ctr" bIns="88000" lIns="88000" spcFirstLastPara="1" rIns="88000" wrap="square" tIns="88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g409d4efb4a7_0_82"/>
          <p:cNvSpPr txBox="1"/>
          <p:nvPr/>
        </p:nvSpPr>
        <p:spPr>
          <a:xfrm>
            <a:off x="1284750" y="5822885"/>
            <a:ext cx="96225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Noto Sans"/>
              <a:buNone/>
            </a:pPr>
            <a:r>
              <a:rPr b="1" lang="ko-KR" sz="16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6개 에이전트와 공공데이터 4종으로 검증된 엔진 위에서, 데이터와 지역을 넓히며 3년 안에 억대 매출 구조를 만듭니다.</a:t>
            </a:r>
            <a:endParaRPr b="0" i="0" sz="1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02" name="Google Shape;302;g409d4efb4a7_0_82" title="ChatGPT Image 2026년 9월 13일 오전 09_19_3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58688" y="1150290"/>
            <a:ext cx="10074633" cy="450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g409d4efb4a7_0_82" title="스크린샷 2026-09-13 오전 10.22.40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92525" y="2308950"/>
            <a:ext cx="3143250" cy="17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g409d4efb4a7_0_82" title="스크린샷 2026-09-13 오전 10.23.05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89649" y="2297400"/>
            <a:ext cx="2720550" cy="17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10" title="해시태깅 친환경 건물 건축 와이드 프레젠테이션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175"/>
            <a:ext cx="12192000" cy="702445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0"/>
          <p:cNvSpPr/>
          <p:nvPr/>
        </p:nvSpPr>
        <p:spPr>
          <a:xfrm>
            <a:off x="0" y="-598725"/>
            <a:ext cx="9172500" cy="7892100"/>
          </a:xfrm>
          <a:prstGeom prst="rect">
            <a:avLst/>
          </a:prstGeom>
          <a:gradFill>
            <a:gsLst>
              <a:gs pos="0">
                <a:schemeClr val="dk1"/>
              </a:gs>
              <a:gs pos="63000">
                <a:srgbClr val="1E2761">
                  <a:alpha val="50196"/>
                </a:srgbClr>
              </a:gs>
              <a:gs pos="100000">
                <a:srgbClr val="1E2761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2" name="Google Shape;312;p10"/>
          <p:cNvGrpSpPr/>
          <p:nvPr/>
        </p:nvGrpSpPr>
        <p:grpSpPr>
          <a:xfrm>
            <a:off x="628650" y="1548312"/>
            <a:ext cx="7809600" cy="3182471"/>
            <a:chOff x="628650" y="1766026"/>
            <a:chExt cx="7809600" cy="3182471"/>
          </a:xfrm>
        </p:grpSpPr>
        <p:sp>
          <p:nvSpPr>
            <p:cNvPr id="313" name="Google Shape;313;p10"/>
            <p:cNvSpPr txBox="1"/>
            <p:nvPr/>
          </p:nvSpPr>
          <p:spPr>
            <a:xfrm>
              <a:off x="628650" y="2112200"/>
              <a:ext cx="7809600" cy="215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0"/>
                <a:buFont typeface="Arial"/>
                <a:buNone/>
              </a:pPr>
              <a:r>
                <a:rPr b="1" lang="ko-KR" sz="8000">
                  <a:solidFill>
                    <a:srgbClr val="FFFFFF"/>
                  </a:solidFill>
                </a:rPr>
                <a:t>                    </a:t>
              </a:r>
              <a:endParaRPr b="1" sz="8000">
                <a:solidFill>
                  <a:srgbClr val="FFFFFF"/>
                </a:solidFill>
              </a:endParaRPr>
            </a:p>
            <a:p>
              <a:pPr indent="0" lvl="0" marL="0" marR="0" rtl="0"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0"/>
                <a:buFont typeface="Arial"/>
                <a:buNone/>
              </a:pPr>
              <a:r>
                <a:rPr b="1" lang="ko-KR" sz="5000">
                  <a:solidFill>
                    <a:srgbClr val="FFFFFF"/>
                  </a:solidFill>
                </a:rPr>
                <a:t>                          과 함께</a:t>
              </a:r>
              <a:endParaRPr b="1" i="0" sz="5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10"/>
            <p:cNvSpPr txBox="1"/>
            <p:nvPr/>
          </p:nvSpPr>
          <p:spPr>
            <a:xfrm>
              <a:off x="628650" y="1766026"/>
              <a:ext cx="7809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lang="ko-KR" sz="2000">
                  <a:solidFill>
                    <a:srgbClr val="C5D8F1"/>
                  </a:solidFill>
                </a:rPr>
                <a:t>비어있는 공간을, 새로운 가치로</a:t>
              </a:r>
              <a:endParaRPr b="1" i="0" sz="2000" u="none" cap="none" strike="noStrike">
                <a:solidFill>
                  <a:srgbClr val="C5D8F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10"/>
            <p:cNvSpPr txBox="1"/>
            <p:nvPr/>
          </p:nvSpPr>
          <p:spPr>
            <a:xfrm>
              <a:off x="628650" y="4440597"/>
              <a:ext cx="7809600" cy="5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ADCFC"/>
                </a:buClr>
                <a:buSzPts val="600"/>
                <a:buFont typeface="Calibri"/>
                <a:buNone/>
              </a:pPr>
              <a:r>
                <a:rPr b="1" lang="ko-KR" sz="2200">
                  <a:solidFill>
                    <a:srgbClr val="CADCFC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                           </a:t>
              </a:r>
              <a:r>
                <a:rPr b="1" lang="ko-KR" sz="2700">
                  <a:solidFill>
                    <a:srgbClr val="CADCFC"/>
                  </a:solidFill>
                  <a:latin typeface="Calibri"/>
                  <a:ea typeface="Calibri"/>
                  <a:cs typeface="Calibri"/>
                  <a:sym typeface="Calibri"/>
                </a:rPr>
                <a:t>빈틈없이 채워가는 전북의 공간</a:t>
              </a:r>
              <a:r>
                <a:rPr b="1" lang="ko-KR" sz="2400">
                  <a:solidFill>
                    <a:srgbClr val="CADCFC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b="1" sz="24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16" name="Google Shape;316;p10" title="KakaoTalk_Photo_2026-09-13-02-42-08.png"/>
          <p:cNvPicPr preferRelativeResize="0"/>
          <p:nvPr/>
        </p:nvPicPr>
        <p:blipFill rotWithShape="1">
          <a:blip r:embed="rId4">
            <a:alphaModFix/>
          </a:blip>
          <a:srcRect b="9404" l="5292" r="5613" t="12165"/>
          <a:stretch/>
        </p:blipFill>
        <p:spPr>
          <a:xfrm>
            <a:off x="628650" y="2285993"/>
            <a:ext cx="4572726" cy="1918625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0"/>
          <p:cNvSpPr txBox="1"/>
          <p:nvPr/>
        </p:nvSpPr>
        <p:spPr>
          <a:xfrm>
            <a:off x="9410425" y="6289550"/>
            <a:ext cx="2567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>
                <a:solidFill>
                  <a:schemeClr val="lt1"/>
                </a:solidFill>
              </a:rPr>
              <a:t>전북대학교 ·</a:t>
            </a:r>
            <a:r>
              <a:rPr b="1" lang="ko-KR" sz="1700">
                <a:solidFill>
                  <a:srgbClr val="6B7086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1700">
                <a:solidFill>
                  <a:schemeClr val="lt1"/>
                </a:solidFill>
              </a:rPr>
              <a:t>온잇 ON:IT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함예지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